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1"/>
  </p:sldMasterIdLst>
  <p:sldIdLst>
    <p:sldId id="256" r:id="rId2"/>
    <p:sldId id="257" r:id="rId3"/>
    <p:sldId id="258" r:id="rId4"/>
    <p:sldId id="259" r:id="rId5"/>
    <p:sldId id="260" r:id="rId6"/>
    <p:sldId id="261" r:id="rId7"/>
    <p:sldId id="263" r:id="rId8"/>
    <p:sldId id="262" r:id="rId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792">
          <p15:clr>
            <a:srgbClr val="A4A3A4"/>
          </p15:clr>
        </p15:guide>
        <p15:guide id="2" pos="192">
          <p15:clr>
            <a:srgbClr val="A4A3A4"/>
          </p15:clr>
        </p15:guide>
        <p15:guide id="3" orient="horz" pos="1080">
          <p15:clr>
            <a:srgbClr val="A4A3A4"/>
          </p15:clr>
        </p15:guide>
      </p15:sldGuideLst>
    </p:ext>
    <p:ext uri="http://customooxmlschemas.google.com/">
      <go:slidesCustomData xmlns="" xmlns:go="http://customooxmlschemas.google.com/"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220" roundtripDataSignature="AMtx7miWNY2LB4ETJwrL8F0N+EK9hEhq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3163"/>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4" d="100"/>
          <a:sy n="84" d="100"/>
        </p:scale>
        <p:origin x="581" y="82"/>
      </p:cViewPr>
      <p:guideLst>
        <p:guide orient="horz" pos="792"/>
        <p:guide pos="192"/>
        <p:guide orient="horz" pos="10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22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22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220" Type="http://customschemas.google.com/relationships/presentationmetadata" Target="metadata"/><Relationship Id="rId5" Type="http://schemas.openxmlformats.org/officeDocument/2006/relationships/slide" Target="slides/slide4.xml"/><Relationship Id="rId22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223"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341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78783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p:cSld name="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27718775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82664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pic>
        <p:nvPicPr>
          <p:cNvPr id="13" name="Google Shape;110;p4" descr="A close up of a sign&#10;&#10;Description automatically generated">
            <a:extLst>
              <a:ext uri="{FF2B5EF4-FFF2-40B4-BE49-F238E27FC236}">
                <a16:creationId xmlns:a16="http://schemas.microsoft.com/office/drawing/2014/main" id="{CE849A3B-BCF0-B774-F89E-81965C71F93E}"/>
              </a:ext>
            </a:extLst>
          </p:cNvPr>
          <p:cNvPicPr preferRelativeResize="0"/>
          <p:nvPr/>
        </p:nvPicPr>
        <p:blipFill rotWithShape="1">
          <a:blip r:embed="rId6">
            <a:alphaModFix/>
          </a:blip>
          <a:srcRect/>
          <a:stretch/>
        </p:blipFill>
        <p:spPr>
          <a:xfrm>
            <a:off x="10072688" y="78002"/>
            <a:ext cx="1800225" cy="575514"/>
          </a:xfrm>
          <a:prstGeom prst="rect">
            <a:avLst/>
          </a:prstGeom>
          <a:noFill/>
          <a:ln>
            <a:noFill/>
          </a:ln>
        </p:spPr>
      </p:pic>
      <p:sp>
        <p:nvSpPr>
          <p:cNvPr id="15" name="Rectangle 14">
            <a:extLst>
              <a:ext uri="{FF2B5EF4-FFF2-40B4-BE49-F238E27FC236}">
                <a16:creationId xmlns:a16="http://schemas.microsoft.com/office/drawing/2014/main" id="{E153E6A6-60E4-FE14-1CBC-8CC211274D1C}"/>
              </a:ext>
            </a:extLst>
          </p:cNvPr>
          <p:cNvSpPr/>
          <p:nvPr/>
        </p:nvSpPr>
        <p:spPr>
          <a:xfrm>
            <a:off x="1" y="0"/>
            <a:ext cx="9829800" cy="717630"/>
          </a:xfrm>
          <a:prstGeom prst="rect">
            <a:avLst/>
          </a:prstGeom>
          <a:solidFill>
            <a:srgbClr val="213264"/>
          </a:solidFill>
          <a:ln>
            <a:solidFill>
              <a:srgbClr val="2132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2C7CE881-772B-9023-3054-4B219B75D755}"/>
              </a:ext>
            </a:extLst>
          </p:cNvPr>
          <p:cNvSpPr/>
          <p:nvPr/>
        </p:nvSpPr>
        <p:spPr>
          <a:xfrm>
            <a:off x="9888967" y="-419"/>
            <a:ext cx="112283" cy="732357"/>
          </a:xfrm>
          <a:prstGeom prst="rect">
            <a:avLst/>
          </a:prstGeom>
          <a:solidFill>
            <a:srgbClr val="7FB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1" name="Picture 30" descr="A blue and white background&#10;&#10;Description automatically generated with medium confidence">
            <a:extLst>
              <a:ext uri="{FF2B5EF4-FFF2-40B4-BE49-F238E27FC236}">
                <a16:creationId xmlns:a16="http://schemas.microsoft.com/office/drawing/2014/main" id="{16A7B69A-9B14-87FE-841D-37F0A91D141D}"/>
              </a:ext>
            </a:extLst>
          </p:cNvPr>
          <p:cNvPicPr>
            <a:picLocks noChangeAspect="1"/>
          </p:cNvPicPr>
          <p:nvPr/>
        </p:nvPicPr>
        <p:blipFill rotWithShape="1">
          <a:blip r:embed="rId7">
            <a:alphaModFix amt="16000"/>
          </a:blip>
          <a:srcRect t="24724" r="1619" b="63695"/>
          <a:stretch/>
        </p:blipFill>
        <p:spPr>
          <a:xfrm>
            <a:off x="0" y="-1"/>
            <a:ext cx="9839325" cy="723901"/>
          </a:xfrm>
          <a:prstGeom prst="rect">
            <a:avLst/>
          </a:prstGeom>
        </p:spPr>
      </p:pic>
      <p:sp>
        <p:nvSpPr>
          <p:cNvPr id="2" name="Rectangle 1">
            <a:extLst>
              <a:ext uri="{FF2B5EF4-FFF2-40B4-BE49-F238E27FC236}">
                <a16:creationId xmlns:a16="http://schemas.microsoft.com/office/drawing/2014/main" id="{37B91A16-5D54-2FC0-B0FD-A78085FC1313}"/>
              </a:ext>
            </a:extLst>
          </p:cNvPr>
          <p:cNvSpPr/>
          <p:nvPr/>
        </p:nvSpPr>
        <p:spPr>
          <a:xfrm>
            <a:off x="11925300" y="-419"/>
            <a:ext cx="266700" cy="732357"/>
          </a:xfrm>
          <a:prstGeom prst="rect">
            <a:avLst/>
          </a:prstGeom>
          <a:solidFill>
            <a:srgbClr val="FED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 bg1="lt1" tx1="dk1" bg2="dk2" tx2="lt2" accent1="accent1" accent2="accent2" accent3="accent3" accent4="accent4" accent5="accent5" accent6="accent6" hlink="hlink" folHlink="folHlink"/>
  <p:sldLayoutIdLst>
    <p:sldLayoutId id="2147483687" r:id="rId1"/>
    <p:sldLayoutId id="2147483701" r:id="rId2"/>
    <p:sldLayoutId id="2147483714" r:id="rId3"/>
    <p:sldLayoutId id="2147483727" r:id="rId4"/>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www.freepik.com/"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github.com/Mudduluru-Monisha/Smart-Energy-Consumption-Forecasting" TargetMode="Externa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person sitting at a desk with a computer&#10;&#10;Description automatically generated">
            <a:extLst>
              <a:ext uri="{FF2B5EF4-FFF2-40B4-BE49-F238E27FC236}">
                <a16:creationId xmlns:a16="http://schemas.microsoft.com/office/drawing/2014/main" id="{07B8740D-C76F-46FC-AEFB-23FB0614DB0C}"/>
              </a:ext>
            </a:extLst>
          </p:cNvPr>
          <p:cNvPicPr>
            <a:picLocks noChangeAspect="1"/>
          </p:cNvPicPr>
          <p:nvPr/>
        </p:nvPicPr>
        <p:blipFill>
          <a:blip r:embed="rId2"/>
          <a:stretch>
            <a:fillRect/>
          </a:stretch>
        </p:blipFill>
        <p:spPr>
          <a:xfrm>
            <a:off x="0" y="0"/>
            <a:ext cx="12192000" cy="6858000"/>
          </a:xfrm>
          <a:prstGeom prst="rect">
            <a:avLst/>
          </a:prstGeom>
        </p:spPr>
      </p:pic>
      <p:sp>
        <p:nvSpPr>
          <p:cNvPr id="4" name="Rectangle: Rounded Corners 3">
            <a:extLst>
              <a:ext uri="{FF2B5EF4-FFF2-40B4-BE49-F238E27FC236}">
                <a16:creationId xmlns:a16="http://schemas.microsoft.com/office/drawing/2014/main" id="{C1857762-AD52-483C-B3E1-635C5BBC6F2F}"/>
              </a:ext>
            </a:extLst>
          </p:cNvPr>
          <p:cNvSpPr/>
          <p:nvPr/>
        </p:nvSpPr>
        <p:spPr>
          <a:xfrm>
            <a:off x="5873750" y="584200"/>
            <a:ext cx="4673600" cy="977900"/>
          </a:xfrm>
          <a:prstGeom prst="roundRect">
            <a:avLst/>
          </a:prstGeom>
          <a:solidFill>
            <a:srgbClr val="EBEEF9"/>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D5067E9C-C7B9-4476-9708-CBB3F66FD892}"/>
              </a:ext>
            </a:extLst>
          </p:cNvPr>
          <p:cNvSpPr txBox="1"/>
          <p:nvPr/>
        </p:nvSpPr>
        <p:spPr>
          <a:xfrm>
            <a:off x="4345835" y="2538252"/>
            <a:ext cx="6870861" cy="2185214"/>
          </a:xfrm>
          <a:prstGeom prst="rect">
            <a:avLst/>
          </a:prstGeom>
          <a:noFill/>
        </p:spPr>
        <p:txBody>
          <a:bodyPr wrap="square" rtlCol="0">
            <a:spAutoFit/>
          </a:bodyPr>
          <a:lstStyle/>
          <a:p>
            <a:pPr algn="r"/>
            <a:r>
              <a:rPr lang="en-US" sz="3600" b="1" dirty="0">
                <a:solidFill>
                  <a:schemeClr val="bg1"/>
                </a:solidFill>
                <a:latin typeface="Calibri" panose="020F0502020204030204" pitchFamily="34" charset="0"/>
                <a:cs typeface="Times New Roman" panose="02020603050405020304" pitchFamily="18" charset="0"/>
              </a:rPr>
              <a:t>Name of </a:t>
            </a:r>
            <a:r>
              <a:rPr lang="en-US" sz="3600" b="1" dirty="0" smtClean="0">
                <a:solidFill>
                  <a:schemeClr val="bg1"/>
                </a:solidFill>
                <a:latin typeface="Calibri" panose="020F0502020204030204" pitchFamily="34" charset="0"/>
                <a:cs typeface="Times New Roman" panose="02020603050405020304" pitchFamily="18" charset="0"/>
              </a:rPr>
              <a:t>Project:</a:t>
            </a:r>
          </a:p>
          <a:p>
            <a:pPr algn="r"/>
            <a:r>
              <a:rPr lang="en-US" sz="3200" b="1" dirty="0">
                <a:solidFill>
                  <a:schemeClr val="bg1"/>
                </a:solidFill>
              </a:rPr>
              <a:t>Smart Energy Consumption Forecasting</a:t>
            </a:r>
          </a:p>
          <a:p>
            <a:pPr algn="r"/>
            <a:r>
              <a:rPr lang="en-US" sz="3600" b="1" dirty="0" smtClean="0">
                <a:solidFill>
                  <a:schemeClr val="bg1"/>
                </a:solidFill>
                <a:latin typeface="Calibri" panose="020F0502020204030204" pitchFamily="34" charset="0"/>
                <a:cs typeface="Times New Roman" panose="02020603050405020304" pitchFamily="18" charset="0"/>
              </a:rPr>
              <a:t> </a:t>
            </a:r>
            <a:r>
              <a:rPr lang="en-IN" sz="3600" b="1" dirty="0" smtClean="0">
                <a:solidFill>
                  <a:schemeClr val="bg1"/>
                </a:solidFill>
                <a:latin typeface="Calibri" panose="020F0502020204030204" pitchFamily="34" charset="0"/>
                <a:cs typeface="Times New Roman" panose="02020603050405020304" pitchFamily="18" charset="0"/>
              </a:rPr>
              <a:t> </a:t>
            </a:r>
            <a:endParaRPr lang="en-US" sz="3600" b="1" dirty="0">
              <a:solidFill>
                <a:schemeClr val="bg1"/>
              </a:solidFill>
              <a:latin typeface="Arial" panose="020B0604020202020204" pitchFamily="34" charset="0"/>
              <a:cs typeface="Arial" panose="020B0604020202020204" pitchFamily="34" charset="0"/>
            </a:endParaRPr>
          </a:p>
        </p:txBody>
      </p:sp>
      <p:grpSp>
        <p:nvGrpSpPr>
          <p:cNvPr id="6" name="Group 5">
            <a:extLst>
              <a:ext uri="{FF2B5EF4-FFF2-40B4-BE49-F238E27FC236}">
                <a16:creationId xmlns:a16="http://schemas.microsoft.com/office/drawing/2014/main" id="{D7224A59-2417-428A-A991-E468431BB817}"/>
              </a:ext>
            </a:extLst>
          </p:cNvPr>
          <p:cNvGrpSpPr/>
          <p:nvPr/>
        </p:nvGrpSpPr>
        <p:grpSpPr>
          <a:xfrm>
            <a:off x="6890523" y="742091"/>
            <a:ext cx="2640053" cy="664378"/>
            <a:chOff x="2375536" y="1112060"/>
            <a:chExt cx="3292636" cy="828603"/>
          </a:xfrm>
        </p:grpSpPr>
        <p:pic>
          <p:nvPicPr>
            <p:cNvPr id="7" name="Picture 6" descr="A close up of a logo&#10;&#10;Description automatically generated">
              <a:extLst>
                <a:ext uri="{FF2B5EF4-FFF2-40B4-BE49-F238E27FC236}">
                  <a16:creationId xmlns:a16="http://schemas.microsoft.com/office/drawing/2014/main" id="{BD3530AF-9771-470E-A9BF-F28AA227533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92781" y="1270168"/>
              <a:ext cx="1575391" cy="512386"/>
            </a:xfrm>
            <a:prstGeom prst="rect">
              <a:avLst/>
            </a:prstGeom>
          </p:spPr>
        </p:pic>
        <p:pic>
          <p:nvPicPr>
            <p:cNvPr id="8" name="Picture 7" descr="A yellow and red shell logo&#10;&#10;Description automatically generated">
              <a:extLst>
                <a:ext uri="{FF2B5EF4-FFF2-40B4-BE49-F238E27FC236}">
                  <a16:creationId xmlns:a16="http://schemas.microsoft.com/office/drawing/2014/main" id="{75E6A819-9F3F-4787-A707-A7415C302BFA}"/>
                </a:ext>
              </a:extLst>
            </p:cNvPr>
            <p:cNvPicPr>
              <a:picLocks noChangeAspect="1"/>
            </p:cNvPicPr>
            <p:nvPr/>
          </p:nvPicPr>
          <p:blipFill>
            <a:blip r:embed="rId4"/>
            <a:stretch>
              <a:fillRect/>
            </a:stretch>
          </p:blipFill>
          <p:spPr>
            <a:xfrm>
              <a:off x="2375536" y="1112060"/>
              <a:ext cx="985475" cy="828603"/>
            </a:xfrm>
            <a:prstGeom prst="rect">
              <a:avLst/>
            </a:prstGeom>
          </p:spPr>
        </p:pic>
      </p:grpSp>
      <p:sp>
        <p:nvSpPr>
          <p:cNvPr id="3" name="TextBox 2"/>
          <p:cNvSpPr txBox="1"/>
          <p:nvPr/>
        </p:nvSpPr>
        <p:spPr>
          <a:xfrm>
            <a:off x="4550398" y="5065776"/>
            <a:ext cx="4980178" cy="954300"/>
          </a:xfrm>
          <a:prstGeom prst="rect">
            <a:avLst/>
          </a:prstGeom>
          <a:noFill/>
        </p:spPr>
        <p:txBody>
          <a:bodyPr wrap="square" rtlCol="0">
            <a:spAutoFit/>
          </a:bodyPr>
          <a:lstStyle/>
          <a:p>
            <a:r>
              <a:rPr lang="en-US" dirty="0" smtClean="0">
                <a:solidFill>
                  <a:schemeClr val="bg1"/>
                </a:solidFill>
              </a:rPr>
              <a:t>Student </a:t>
            </a:r>
            <a:r>
              <a:rPr lang="en-US" dirty="0">
                <a:solidFill>
                  <a:schemeClr val="bg1"/>
                </a:solidFill>
              </a:rPr>
              <a:t>ID: STU656370e43668f1701015780</a:t>
            </a:r>
            <a:r>
              <a:rPr lang="en-US" dirty="0" smtClean="0">
                <a:solidFill>
                  <a:schemeClr val="bg1"/>
                </a:solidFill>
              </a:rPr>
              <a:t/>
            </a:r>
            <a:br>
              <a:rPr lang="en-US" dirty="0" smtClean="0">
                <a:solidFill>
                  <a:schemeClr val="bg1"/>
                </a:solidFill>
              </a:rPr>
            </a:br>
            <a:r>
              <a:rPr lang="en-US" dirty="0" smtClean="0">
                <a:solidFill>
                  <a:schemeClr val="bg1"/>
                </a:solidFill>
              </a:rPr>
              <a:t>Internship ID</a:t>
            </a:r>
            <a:r>
              <a:rPr lang="en-US" dirty="0">
                <a:solidFill>
                  <a:schemeClr val="bg1"/>
                </a:solidFill>
              </a:rPr>
              <a:t>: INTERNSHIP_175683301568b724f7b9fba</a:t>
            </a:r>
          </a:p>
        </p:txBody>
      </p:sp>
    </p:spTree>
    <p:extLst>
      <p:ext uri="{BB962C8B-B14F-4D97-AF65-F5344CB8AC3E}">
        <p14:creationId xmlns:p14="http://schemas.microsoft.com/office/powerpoint/2010/main" val="367127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094E319-C77C-49E2-964C-6E125D716194}"/>
              </a:ext>
            </a:extLst>
          </p:cNvPr>
          <p:cNvSpPr txBox="1"/>
          <p:nvPr/>
        </p:nvSpPr>
        <p:spPr>
          <a:xfrm>
            <a:off x="191911" y="972537"/>
            <a:ext cx="2652889" cy="400110"/>
          </a:xfrm>
          <a:prstGeom prst="rect">
            <a:avLst/>
          </a:prstGeom>
          <a:noFill/>
        </p:spPr>
        <p:txBody>
          <a:bodyPr wrap="square">
            <a:spAutoFit/>
          </a:bodyPr>
          <a:lstStyle/>
          <a:p>
            <a:r>
              <a:rPr lang="en-IN" sz="2000" b="1" dirty="0">
                <a:solidFill>
                  <a:srgbClr val="213163"/>
                </a:solidFill>
              </a:rPr>
              <a:t>Learning Objectives</a:t>
            </a:r>
            <a:endParaRPr lang="en-IN" sz="2000" dirty="0">
              <a:solidFill>
                <a:srgbClr val="213163"/>
              </a:solidFill>
            </a:endParaRPr>
          </a:p>
        </p:txBody>
      </p:sp>
      <p:sp>
        <p:nvSpPr>
          <p:cNvPr id="3" name="TextBox 2">
            <a:extLst>
              <a:ext uri="{FF2B5EF4-FFF2-40B4-BE49-F238E27FC236}">
                <a16:creationId xmlns:a16="http://schemas.microsoft.com/office/drawing/2014/main" id="{8E1F3497-5370-4874-9908-5AD45214E10B}"/>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dirty="0">
                <a:latin typeface="+mn-lt"/>
              </a:rPr>
              <a:t>Source : </a:t>
            </a:r>
          </a:p>
        </p:txBody>
      </p:sp>
      <p:sp>
        <p:nvSpPr>
          <p:cNvPr id="4" name="TextBox 3">
            <a:extLst>
              <a:ext uri="{FF2B5EF4-FFF2-40B4-BE49-F238E27FC236}">
                <a16:creationId xmlns:a16="http://schemas.microsoft.com/office/drawing/2014/main" id="{ECE830DD-8813-42EB-B27B-B7D85423D0C7}"/>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dirty="0">
                <a:solidFill>
                  <a:srgbClr val="0000FF"/>
                </a:solidFill>
                <a:latin typeface="+mn-lt"/>
                <a:hlinkClick r:id="rId2">
                  <a:extLst>
                    <a:ext uri="{A12FA001-AC4F-418D-AE19-62706E023703}">
                      <ahyp:hlinkClr xmlns="" xmlns:ahyp="http://schemas.microsoft.com/office/drawing/2018/hyperlinkcolor" val="tx"/>
                    </a:ext>
                  </a:extLst>
                </a:hlinkClick>
              </a:rPr>
              <a:t>www.freepik.com/</a:t>
            </a:r>
            <a:endParaRPr lang="en-IN" sz="1200" dirty="0">
              <a:solidFill>
                <a:srgbClr val="0000FF"/>
              </a:solidFill>
              <a:latin typeface="+mn-lt"/>
            </a:endParaRPr>
          </a:p>
        </p:txBody>
      </p:sp>
      <p:cxnSp>
        <p:nvCxnSpPr>
          <p:cNvPr id="5" name="Straight Connector 4">
            <a:extLst>
              <a:ext uri="{FF2B5EF4-FFF2-40B4-BE49-F238E27FC236}">
                <a16:creationId xmlns:a16="http://schemas.microsoft.com/office/drawing/2014/main" id="{CA22F707-7F22-48A3-97EC-98EFB1023A55}"/>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ladder leading to a large yellow circle&#10;&#10;Description automatically generated">
            <a:extLst>
              <a:ext uri="{FF2B5EF4-FFF2-40B4-BE49-F238E27FC236}">
                <a16:creationId xmlns:a16="http://schemas.microsoft.com/office/drawing/2014/main" id="{E2920B14-B344-4926-9729-BC7EBD91FF9A}"/>
              </a:ext>
            </a:extLst>
          </p:cNvPr>
          <p:cNvPicPr>
            <a:picLocks noChangeAspect="1"/>
          </p:cNvPicPr>
          <p:nvPr/>
        </p:nvPicPr>
        <p:blipFill rotWithShape="1">
          <a:blip r:embed="rId3">
            <a:alphaModFix amt="85000"/>
          </a:blip>
          <a:srcRect l="13763" t="6135" r="13650"/>
          <a:stretch/>
        </p:blipFill>
        <p:spPr>
          <a:xfrm>
            <a:off x="7345680" y="1442720"/>
            <a:ext cx="4500880" cy="4632960"/>
          </a:xfrm>
          <a:prstGeom prst="rect">
            <a:avLst/>
          </a:prstGeom>
        </p:spPr>
      </p:pic>
      <p:sp>
        <p:nvSpPr>
          <p:cNvPr id="7" name="TextBox 6">
            <a:extLst>
              <a:ext uri="{FF2B5EF4-FFF2-40B4-BE49-F238E27FC236}">
                <a16:creationId xmlns:a16="http://schemas.microsoft.com/office/drawing/2014/main" id="{6C264928-EACB-4739-BDDA-6799C99356F3}"/>
              </a:ext>
            </a:extLst>
          </p:cNvPr>
          <p:cNvSpPr txBox="1"/>
          <p:nvPr/>
        </p:nvSpPr>
        <p:spPr>
          <a:xfrm>
            <a:off x="8839200" y="3168609"/>
            <a:ext cx="1503681" cy="630942"/>
          </a:xfrm>
          <a:prstGeom prst="rect">
            <a:avLst/>
          </a:prstGeom>
          <a:noFill/>
        </p:spPr>
        <p:txBody>
          <a:bodyPr wrap="square" rtlCol="0">
            <a:spAutoFit/>
          </a:bodyPr>
          <a:lstStyle/>
          <a:p>
            <a:pPr>
              <a:spcAft>
                <a:spcPts val="800"/>
              </a:spcAft>
            </a:pPr>
            <a:r>
              <a:rPr lang="en-IN" sz="3500" b="1" dirty="0">
                <a:solidFill>
                  <a:schemeClr val="tx1"/>
                </a:solidFill>
                <a:latin typeface="+mn-lt"/>
              </a:rPr>
              <a:t>GOAL</a:t>
            </a:r>
          </a:p>
        </p:txBody>
      </p:sp>
      <p:sp>
        <p:nvSpPr>
          <p:cNvPr id="8" name="TextBox 7"/>
          <p:cNvSpPr txBox="1"/>
          <p:nvPr/>
        </p:nvSpPr>
        <p:spPr>
          <a:xfrm>
            <a:off x="328169" y="1372647"/>
            <a:ext cx="7007352" cy="4392036"/>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sz="1400" dirty="0" smtClean="0">
                <a:latin typeface="+mj-lt"/>
                <a:cs typeface="Calibri" panose="020F0502020204030204" pitchFamily="34" charset="0"/>
              </a:rPr>
              <a:t>Understand </a:t>
            </a:r>
            <a:r>
              <a:rPr lang="en-US" sz="1400" dirty="0">
                <a:latin typeface="+mj-lt"/>
                <a:cs typeface="Calibri" panose="020F0502020204030204" pitchFamily="34" charset="0"/>
              </a:rPr>
              <a:t>how household energy consumption behaves over time.</a:t>
            </a:r>
          </a:p>
          <a:p>
            <a:pPr marL="285750" indent="-285750" algn="just">
              <a:lnSpc>
                <a:spcPct val="150000"/>
              </a:lnSpc>
              <a:buFont typeface="Arial" panose="020B0604020202020204" pitchFamily="34" charset="0"/>
              <a:buChar char="•"/>
            </a:pPr>
            <a:r>
              <a:rPr lang="en-US" sz="1400" dirty="0">
                <a:latin typeface="+mj-lt"/>
                <a:cs typeface="Calibri" panose="020F0502020204030204" pitchFamily="34" charset="0"/>
              </a:rPr>
              <a:t>Learn how Machine Learning models can analyze and forecast electricity usage.</a:t>
            </a:r>
          </a:p>
          <a:p>
            <a:pPr marL="285750" indent="-285750" algn="just">
              <a:lnSpc>
                <a:spcPct val="150000"/>
              </a:lnSpc>
              <a:buFont typeface="Arial" panose="020B0604020202020204" pitchFamily="34" charset="0"/>
              <a:buChar char="•"/>
            </a:pPr>
            <a:r>
              <a:rPr lang="en-US" sz="1400" dirty="0">
                <a:latin typeface="+mj-lt"/>
                <a:cs typeface="Calibri" panose="020F0502020204030204" pitchFamily="34" charset="0"/>
              </a:rPr>
              <a:t>Gain exposure to data preprocessing, feature engineering, and time-series prediction.</a:t>
            </a:r>
          </a:p>
          <a:p>
            <a:pPr marL="285750" indent="-285750" algn="just">
              <a:lnSpc>
                <a:spcPct val="150000"/>
              </a:lnSpc>
              <a:buFont typeface="Arial" panose="020B0604020202020204" pitchFamily="34" charset="0"/>
              <a:buChar char="•"/>
            </a:pPr>
            <a:r>
              <a:rPr lang="en-US" sz="1400" dirty="0">
                <a:latin typeface="+mj-lt"/>
                <a:cs typeface="Calibri" panose="020F0502020204030204" pitchFamily="34" charset="0"/>
              </a:rPr>
              <a:t>Interpret model outputs to make smarter energy decisions.</a:t>
            </a:r>
          </a:p>
          <a:p>
            <a:pPr marL="285750" indent="-285750" algn="just">
              <a:lnSpc>
                <a:spcPct val="150000"/>
              </a:lnSpc>
              <a:buFont typeface="Arial" panose="020B0604020202020204" pitchFamily="34" charset="0"/>
              <a:buChar char="•"/>
            </a:pPr>
            <a:r>
              <a:rPr lang="en-US" sz="1400" dirty="0">
                <a:latin typeface="+mj-lt"/>
                <a:cs typeface="Calibri" panose="020F0502020204030204" pitchFamily="34" charset="0"/>
              </a:rPr>
              <a:t>Explore how forecasting can help reduce bills and improve energy planning</a:t>
            </a:r>
            <a:r>
              <a:rPr lang="en-US" sz="1400" dirty="0" smtClean="0">
                <a:latin typeface="+mj-lt"/>
                <a:cs typeface="Calibri" panose="020F0502020204030204" pitchFamily="34" charset="0"/>
              </a:rPr>
              <a:t>.</a:t>
            </a:r>
            <a:endParaRPr lang="en-US" sz="1400" dirty="0">
              <a:latin typeface="+mj-lt"/>
              <a:cs typeface="Calibri" panose="020F0502020204030204" pitchFamily="34" charset="0"/>
            </a:endParaRPr>
          </a:p>
          <a:p>
            <a:pPr algn="just">
              <a:lnSpc>
                <a:spcPct val="150000"/>
              </a:lnSpc>
            </a:pPr>
            <a:r>
              <a:rPr lang="en-US" sz="2000" b="1" dirty="0">
                <a:solidFill>
                  <a:srgbClr val="213163"/>
                </a:solidFill>
                <a:latin typeface="Arial" panose="020B0604020202020204" pitchFamily="34" charset="0"/>
                <a:cs typeface="Arial" panose="020B0604020202020204" pitchFamily="34" charset="0"/>
              </a:rPr>
              <a:t>Goal of the </a:t>
            </a:r>
            <a:r>
              <a:rPr lang="en-US" sz="2000" b="1" dirty="0" smtClean="0">
                <a:solidFill>
                  <a:srgbClr val="213163"/>
                </a:solidFill>
                <a:latin typeface="Arial" panose="020B0604020202020204" pitchFamily="34" charset="0"/>
                <a:cs typeface="Arial" panose="020B0604020202020204" pitchFamily="34" charset="0"/>
              </a:rPr>
              <a:t>Project</a:t>
            </a:r>
            <a:endParaRPr lang="en-US" sz="1600" dirty="0">
              <a:latin typeface="Arial" panose="020B0604020202020204" pitchFamily="34" charset="0"/>
              <a:cs typeface="Arial" panose="020B0604020202020204" pitchFamily="34" charset="0"/>
            </a:endParaRPr>
          </a:p>
          <a:p>
            <a:pPr marL="285750" lvl="2" indent="-285750" algn="just">
              <a:lnSpc>
                <a:spcPct val="150000"/>
              </a:lnSpc>
              <a:buFont typeface="Arial" panose="020B0604020202020204" pitchFamily="34" charset="0"/>
              <a:buChar char="•"/>
            </a:pPr>
            <a:r>
              <a:rPr lang="en-US" sz="1400" dirty="0">
                <a:latin typeface="+mj-lt"/>
                <a:cs typeface="Calibri" panose="020F0502020204030204" pitchFamily="34" charset="0"/>
              </a:rPr>
              <a:t>The main goal is to predict future electricity consumption using ML models (RF, </a:t>
            </a:r>
            <a:r>
              <a:rPr lang="en-US" sz="1400" dirty="0" err="1">
                <a:latin typeface="+mj-lt"/>
                <a:cs typeface="Calibri" panose="020F0502020204030204" pitchFamily="34" charset="0"/>
              </a:rPr>
              <a:t>XGBoost</a:t>
            </a:r>
            <a:r>
              <a:rPr lang="en-US" sz="1400" dirty="0">
                <a:latin typeface="+mj-lt"/>
                <a:cs typeface="Calibri" panose="020F0502020204030204" pitchFamily="34" charset="0"/>
              </a:rPr>
              <a:t>, and LSTM).</a:t>
            </a:r>
          </a:p>
          <a:p>
            <a:pPr marL="285750" lvl="2" indent="-285750" algn="just">
              <a:lnSpc>
                <a:spcPct val="150000"/>
              </a:lnSpc>
              <a:buFont typeface="Arial" panose="020B0604020202020204" pitchFamily="34" charset="0"/>
              <a:buChar char="•"/>
            </a:pPr>
            <a:r>
              <a:rPr lang="en-US" sz="1400" dirty="0">
                <a:latin typeface="+mj-lt"/>
                <a:cs typeface="Calibri" panose="020F0502020204030204" pitchFamily="34" charset="0"/>
              </a:rPr>
              <a:t>Provide users with insights into usage trends and help them understand when consumption is high, medium, or low.</a:t>
            </a:r>
          </a:p>
          <a:p>
            <a:pPr marL="285750" lvl="2" indent="-285750" algn="just">
              <a:lnSpc>
                <a:spcPct val="150000"/>
              </a:lnSpc>
              <a:buFont typeface="Arial" panose="020B0604020202020204" pitchFamily="34" charset="0"/>
              <a:buChar char="•"/>
            </a:pPr>
            <a:r>
              <a:rPr lang="en-US" sz="1400" dirty="0">
                <a:latin typeface="+mj-lt"/>
                <a:cs typeface="Calibri" panose="020F0502020204030204" pitchFamily="34" charset="0"/>
              </a:rPr>
              <a:t>Build a simple </a:t>
            </a:r>
            <a:r>
              <a:rPr lang="en-US" sz="1400" dirty="0" err="1">
                <a:latin typeface="+mj-lt"/>
                <a:cs typeface="Calibri" panose="020F0502020204030204" pitchFamily="34" charset="0"/>
              </a:rPr>
              <a:t>Streamlit</a:t>
            </a:r>
            <a:r>
              <a:rPr lang="en-US" sz="1400" dirty="0">
                <a:latin typeface="+mj-lt"/>
                <a:cs typeface="Calibri" panose="020F0502020204030204" pitchFamily="34" charset="0"/>
              </a:rPr>
              <a:t> application where users can upload data and instantly get predictions</a:t>
            </a:r>
            <a:r>
              <a:rPr lang="en-US" sz="1400" dirty="0" smtClean="0">
                <a:latin typeface="+mj-lt"/>
                <a:cs typeface="Calibri" panose="020F0502020204030204" pitchFamily="34" charset="0"/>
              </a:rPr>
              <a:t>.</a:t>
            </a:r>
            <a:endParaRPr lang="en-US" sz="1400" dirty="0">
              <a:latin typeface="+mj-lt"/>
              <a:cs typeface="Calibri" panose="020F0502020204030204" pitchFamily="34" charset="0"/>
            </a:endParaRPr>
          </a:p>
        </p:txBody>
      </p:sp>
    </p:spTree>
    <p:extLst>
      <p:ext uri="{BB962C8B-B14F-4D97-AF65-F5344CB8AC3E}">
        <p14:creationId xmlns:p14="http://schemas.microsoft.com/office/powerpoint/2010/main" val="29320524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420624" y="1332311"/>
            <a:ext cx="6102626" cy="400110"/>
          </a:xfrm>
          <a:prstGeom prst="rect">
            <a:avLst/>
          </a:prstGeom>
          <a:noFill/>
        </p:spPr>
        <p:txBody>
          <a:bodyPr wrap="square">
            <a:spAutoFit/>
          </a:bodyPr>
          <a:lstStyle/>
          <a:p>
            <a:r>
              <a:rPr lang="en-US" sz="1800" b="1" dirty="0">
                <a:solidFill>
                  <a:srgbClr val="213163"/>
                </a:solidFill>
              </a:rPr>
              <a:t>T</a:t>
            </a:r>
            <a:r>
              <a:rPr lang="en-IN" sz="2000" b="1" dirty="0" err="1">
                <a:solidFill>
                  <a:srgbClr val="213163"/>
                </a:solidFill>
              </a:rPr>
              <a:t>ools</a:t>
            </a:r>
            <a:r>
              <a:rPr lang="en-IN" sz="2000" b="1" dirty="0">
                <a:solidFill>
                  <a:srgbClr val="213163"/>
                </a:solidFill>
              </a:rPr>
              <a:t> and Technology used </a:t>
            </a:r>
          </a:p>
        </p:txBody>
      </p:sp>
      <p:sp>
        <p:nvSpPr>
          <p:cNvPr id="2" name="TextBox 1"/>
          <p:cNvSpPr txBox="1"/>
          <p:nvPr/>
        </p:nvSpPr>
        <p:spPr>
          <a:xfrm>
            <a:off x="420624" y="1810512"/>
            <a:ext cx="10991088" cy="4352544"/>
          </a:xfrm>
          <a:prstGeom prst="rect">
            <a:avLst/>
          </a:prstGeom>
          <a:noFill/>
        </p:spPr>
        <p:txBody>
          <a:bodyPr wrap="square" rtlCol="0">
            <a:spAutoFit/>
          </a:bodyPr>
          <a:lstStyle/>
          <a:p>
            <a:endParaRPr lang="en-US" dirty="0"/>
          </a:p>
        </p:txBody>
      </p:sp>
      <p:sp>
        <p:nvSpPr>
          <p:cNvPr id="5" name="Rectangle 2"/>
          <p:cNvSpPr>
            <a:spLocks noChangeArrowheads="1"/>
          </p:cNvSpPr>
          <p:nvPr/>
        </p:nvSpPr>
        <p:spPr bwMode="auto">
          <a:xfrm>
            <a:off x="420624" y="1574537"/>
            <a:ext cx="11253216"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50000"/>
              </a:lnSpc>
              <a:spcBef>
                <a:spcPct val="0"/>
              </a:spcBef>
              <a:spcAft>
                <a:spcPct val="0"/>
              </a:spcAft>
              <a:buClrTx/>
              <a:buSzTx/>
              <a:buFontTx/>
              <a:buChar char="•"/>
              <a:tabLst/>
            </a:pPr>
            <a:r>
              <a:rPr kumimoji="0" lang="en-US" altLang="en-US" sz="1600" b="1" i="0" u="none" strike="noStrike" cap="none" normalizeH="0" baseline="0" dirty="0" smtClean="0">
                <a:ln>
                  <a:noFill/>
                </a:ln>
                <a:solidFill>
                  <a:schemeClr val="tx1"/>
                </a:solidFill>
                <a:effectLst/>
                <a:latin typeface="Arial" panose="020B0604020202020204" pitchFamily="34" charset="0"/>
              </a:rPr>
              <a:t>Programming Language:</a:t>
            </a:r>
            <a:r>
              <a:rPr kumimoji="0" lang="en-US" altLang="en-US" sz="1600" b="0" i="0" u="none" strike="noStrike" cap="none" normalizeH="0" baseline="0" dirty="0" smtClean="0">
                <a:ln>
                  <a:noFill/>
                </a:ln>
                <a:solidFill>
                  <a:schemeClr val="tx1"/>
                </a:solidFill>
                <a:effectLst/>
                <a:latin typeface="Arial" panose="020B0604020202020204" pitchFamily="34" charset="0"/>
              </a:rPr>
              <a:t> Python</a:t>
            </a:r>
          </a:p>
          <a:p>
            <a:pPr marL="0" marR="0" lvl="0" indent="0" defTabSz="914400" rtl="0" eaLnBrk="0" fontAlgn="base" latinLnBrk="0" hangingPunct="0">
              <a:lnSpc>
                <a:spcPct val="150000"/>
              </a:lnSpc>
              <a:spcBef>
                <a:spcPct val="0"/>
              </a:spcBef>
              <a:spcAft>
                <a:spcPct val="0"/>
              </a:spcAft>
              <a:buClrTx/>
              <a:buSzTx/>
              <a:buFontTx/>
              <a:buChar char="•"/>
              <a:tabLst/>
            </a:pPr>
            <a:r>
              <a:rPr kumimoji="0" lang="en-US" altLang="en-US" sz="1600" b="1" i="0" u="none" strike="noStrike" cap="none" normalizeH="0" baseline="0" dirty="0" smtClean="0">
                <a:ln>
                  <a:noFill/>
                </a:ln>
                <a:solidFill>
                  <a:schemeClr val="tx1"/>
                </a:solidFill>
                <a:effectLst/>
                <a:latin typeface="Arial" panose="020B0604020202020204" pitchFamily="34" charset="0"/>
              </a:rPr>
              <a:t>Libraries:</a:t>
            </a:r>
            <a:r>
              <a:rPr kumimoji="0" lang="en-US" altLang="en-US" sz="1600" b="0" i="0" u="none" strike="noStrike" cap="none" normalizeH="0" baseline="0" dirty="0" smtClean="0">
                <a:ln>
                  <a:noFill/>
                </a:ln>
                <a:solidFill>
                  <a:schemeClr val="tx1"/>
                </a:solidFill>
                <a:effectLst/>
                <a:latin typeface="Arial" panose="020B0604020202020204" pitchFamily="34" charset="0"/>
              </a:rPr>
              <a:t> Pandas, </a:t>
            </a:r>
            <a:r>
              <a:rPr kumimoji="0" lang="en-US" altLang="en-US" sz="1600" b="0" i="0" u="none" strike="noStrike" cap="none" normalizeH="0" baseline="0" dirty="0" err="1" smtClean="0">
                <a:ln>
                  <a:noFill/>
                </a:ln>
                <a:solidFill>
                  <a:schemeClr val="tx1"/>
                </a:solidFill>
                <a:effectLst/>
                <a:latin typeface="Arial" panose="020B0604020202020204" pitchFamily="34" charset="0"/>
              </a:rPr>
              <a:t>NumPy</a:t>
            </a:r>
            <a:r>
              <a:rPr kumimoji="0" lang="en-US" altLang="en-US" sz="1600" b="0" i="0" u="none" strike="noStrike" cap="none" normalizeH="0" baseline="0" dirty="0" smtClean="0">
                <a:ln>
                  <a:noFill/>
                </a:ln>
                <a:solidFill>
                  <a:schemeClr val="tx1"/>
                </a:solidFill>
                <a:effectLst/>
                <a:latin typeface="Arial" panose="020B0604020202020204" pitchFamily="34" charset="0"/>
              </a:rPr>
              <a:t>, </a:t>
            </a:r>
            <a:r>
              <a:rPr kumimoji="0" lang="en-US" altLang="en-US" sz="1600" b="0" i="0" u="none" strike="noStrike" cap="none" normalizeH="0" baseline="0" dirty="0" err="1" smtClean="0">
                <a:ln>
                  <a:noFill/>
                </a:ln>
                <a:solidFill>
                  <a:schemeClr val="tx1"/>
                </a:solidFill>
                <a:effectLst/>
                <a:latin typeface="Arial" panose="020B0604020202020204" pitchFamily="34" charset="0"/>
              </a:rPr>
              <a:t>Scikit</a:t>
            </a:r>
            <a:r>
              <a:rPr kumimoji="0" lang="en-US" altLang="en-US" sz="1600" b="0" i="0" u="none" strike="noStrike" cap="none" normalizeH="0" baseline="0" dirty="0" smtClean="0">
                <a:ln>
                  <a:noFill/>
                </a:ln>
                <a:solidFill>
                  <a:schemeClr val="tx1"/>
                </a:solidFill>
                <a:effectLst/>
                <a:latin typeface="Arial" panose="020B0604020202020204" pitchFamily="34" charset="0"/>
              </a:rPr>
              <a:t>-Learn, </a:t>
            </a:r>
            <a:r>
              <a:rPr kumimoji="0" lang="en-US" altLang="en-US" sz="1600" b="0" i="0" u="none" strike="noStrike" cap="none" normalizeH="0" baseline="0" dirty="0" err="1" smtClean="0">
                <a:ln>
                  <a:noFill/>
                </a:ln>
                <a:solidFill>
                  <a:schemeClr val="tx1"/>
                </a:solidFill>
                <a:effectLst/>
                <a:latin typeface="Arial" panose="020B0604020202020204" pitchFamily="34" charset="0"/>
              </a:rPr>
              <a:t>XGBoost</a:t>
            </a:r>
            <a:r>
              <a:rPr kumimoji="0" lang="en-US" altLang="en-US" sz="1600" b="0" i="0" u="none" strike="noStrike" cap="none" normalizeH="0" baseline="0" dirty="0" smtClean="0">
                <a:ln>
                  <a:noFill/>
                </a:ln>
                <a:solidFill>
                  <a:schemeClr val="tx1"/>
                </a:solidFill>
                <a:effectLst/>
                <a:latin typeface="Arial" panose="020B0604020202020204" pitchFamily="34" charset="0"/>
              </a:rPr>
              <a:t>, </a:t>
            </a:r>
            <a:r>
              <a:rPr kumimoji="0" lang="en-US" altLang="en-US" sz="1600" b="0" i="0" u="none" strike="noStrike" cap="none" normalizeH="0" baseline="0" dirty="0" err="1" smtClean="0">
                <a:ln>
                  <a:noFill/>
                </a:ln>
                <a:solidFill>
                  <a:schemeClr val="tx1"/>
                </a:solidFill>
                <a:effectLst/>
                <a:latin typeface="Arial" panose="020B0604020202020204" pitchFamily="34" charset="0"/>
              </a:rPr>
              <a:t>TensorFlow</a:t>
            </a:r>
            <a:r>
              <a:rPr kumimoji="0" lang="en-US" altLang="en-US" sz="1600" b="0" i="0" u="none" strike="noStrike" cap="none" normalizeH="0" baseline="0" dirty="0" smtClean="0">
                <a:ln>
                  <a:noFill/>
                </a:ln>
                <a:solidFill>
                  <a:schemeClr val="tx1"/>
                </a:solidFill>
                <a:effectLst/>
                <a:latin typeface="Arial" panose="020B0604020202020204" pitchFamily="34" charset="0"/>
              </a:rPr>
              <a:t>/</a:t>
            </a:r>
            <a:r>
              <a:rPr kumimoji="0" lang="en-US" altLang="en-US" sz="1600" b="0" i="0" u="none" strike="noStrike" cap="none" normalizeH="0" baseline="0" dirty="0" err="1" smtClean="0">
                <a:ln>
                  <a:noFill/>
                </a:ln>
                <a:solidFill>
                  <a:schemeClr val="tx1"/>
                </a:solidFill>
                <a:effectLst/>
                <a:latin typeface="Arial" panose="020B0604020202020204" pitchFamily="34" charset="0"/>
              </a:rPr>
              <a:t>Keras</a:t>
            </a:r>
            <a:endParaRPr kumimoji="0" lang="en-US" altLang="en-US" sz="1600" b="0" i="0" u="none" strike="noStrike" cap="none" normalizeH="0" baseline="0" dirty="0" smtClean="0">
              <a:ln>
                <a:noFill/>
              </a:ln>
              <a:solidFill>
                <a:schemeClr val="tx1"/>
              </a:solidFill>
              <a:effectLst/>
              <a:latin typeface="Arial" panose="020B0604020202020204" pitchFamily="34" charset="0"/>
            </a:endParaRPr>
          </a:p>
          <a:p>
            <a:pPr marL="0" marR="0" lvl="0" indent="0" defTabSz="914400" rtl="0" eaLnBrk="0" fontAlgn="base" latinLnBrk="0" hangingPunct="0">
              <a:lnSpc>
                <a:spcPct val="150000"/>
              </a:lnSpc>
              <a:spcBef>
                <a:spcPct val="0"/>
              </a:spcBef>
              <a:spcAft>
                <a:spcPct val="0"/>
              </a:spcAft>
              <a:buClrTx/>
              <a:buSzTx/>
              <a:buFontTx/>
              <a:buChar char="•"/>
              <a:tabLst/>
            </a:pPr>
            <a:r>
              <a:rPr kumimoji="0" lang="en-US" altLang="en-US" sz="1600" b="1" i="0" u="none" strike="noStrike" cap="none" normalizeH="0" baseline="0" dirty="0" smtClean="0">
                <a:ln>
                  <a:noFill/>
                </a:ln>
                <a:solidFill>
                  <a:schemeClr val="tx1"/>
                </a:solidFill>
                <a:effectLst/>
                <a:latin typeface="Arial" panose="020B0604020202020204" pitchFamily="34" charset="0"/>
              </a:rPr>
              <a:t>Visualization:</a:t>
            </a:r>
            <a:r>
              <a:rPr kumimoji="0" lang="en-US" altLang="en-US" sz="1600" b="0" i="0" u="none" strike="noStrike" cap="none" normalizeH="0" baseline="0" dirty="0" smtClean="0">
                <a:ln>
                  <a:noFill/>
                </a:ln>
                <a:solidFill>
                  <a:schemeClr val="tx1"/>
                </a:solidFill>
                <a:effectLst/>
                <a:latin typeface="Arial" panose="020B0604020202020204" pitchFamily="34" charset="0"/>
              </a:rPr>
              <a:t> </a:t>
            </a:r>
            <a:r>
              <a:rPr kumimoji="0" lang="en-US" altLang="en-US" sz="1600" b="0" i="0" u="none" strike="noStrike" cap="none" normalizeH="0" baseline="0" dirty="0" err="1" smtClean="0">
                <a:ln>
                  <a:noFill/>
                </a:ln>
                <a:solidFill>
                  <a:schemeClr val="tx1"/>
                </a:solidFill>
                <a:effectLst/>
                <a:latin typeface="Arial" panose="020B0604020202020204" pitchFamily="34" charset="0"/>
              </a:rPr>
              <a:t>Matplotlib</a:t>
            </a:r>
            <a:r>
              <a:rPr kumimoji="0" lang="en-US" altLang="en-US" sz="1600" b="0" i="0" u="none" strike="noStrike" cap="none" normalizeH="0" baseline="0" dirty="0" smtClean="0">
                <a:ln>
                  <a:noFill/>
                </a:ln>
                <a:solidFill>
                  <a:schemeClr val="tx1"/>
                </a:solidFill>
                <a:effectLst/>
                <a:latin typeface="Arial" panose="020B0604020202020204" pitchFamily="34" charset="0"/>
              </a:rPr>
              <a:t>, </a:t>
            </a:r>
            <a:r>
              <a:rPr kumimoji="0" lang="en-US" altLang="en-US" sz="1600" b="0" i="0" u="none" strike="noStrike" cap="none" normalizeH="0" baseline="0" dirty="0" err="1" smtClean="0">
                <a:ln>
                  <a:noFill/>
                </a:ln>
                <a:solidFill>
                  <a:schemeClr val="tx1"/>
                </a:solidFill>
                <a:effectLst/>
                <a:latin typeface="Arial" panose="020B0604020202020204" pitchFamily="34" charset="0"/>
              </a:rPr>
              <a:t>Streamlit</a:t>
            </a:r>
            <a:r>
              <a:rPr kumimoji="0" lang="en-US" altLang="en-US" sz="1600" b="0" i="0" u="none" strike="noStrike" cap="none" normalizeH="0" baseline="0" dirty="0" smtClean="0">
                <a:ln>
                  <a:noFill/>
                </a:ln>
                <a:solidFill>
                  <a:schemeClr val="tx1"/>
                </a:solidFill>
                <a:effectLst/>
                <a:latin typeface="Arial" panose="020B0604020202020204" pitchFamily="34" charset="0"/>
              </a:rPr>
              <a:t> line charts</a:t>
            </a:r>
          </a:p>
          <a:p>
            <a:pPr marL="0" marR="0" lvl="0" indent="0" defTabSz="914400" rtl="0" eaLnBrk="0" fontAlgn="base" latinLnBrk="0" hangingPunct="0">
              <a:lnSpc>
                <a:spcPct val="150000"/>
              </a:lnSpc>
              <a:spcBef>
                <a:spcPct val="0"/>
              </a:spcBef>
              <a:spcAft>
                <a:spcPct val="0"/>
              </a:spcAft>
              <a:buClrTx/>
              <a:buSzTx/>
              <a:buFontTx/>
              <a:buChar char="•"/>
              <a:tabLst/>
            </a:pPr>
            <a:r>
              <a:rPr kumimoji="0" lang="en-US" altLang="en-US" sz="1600" b="1" i="0" u="none" strike="noStrike" cap="none" normalizeH="0" baseline="0" dirty="0" smtClean="0">
                <a:ln>
                  <a:noFill/>
                </a:ln>
                <a:solidFill>
                  <a:schemeClr val="tx1"/>
                </a:solidFill>
                <a:effectLst/>
                <a:latin typeface="Arial" panose="020B0604020202020204" pitchFamily="34" charset="0"/>
              </a:rPr>
              <a:t>Application Framework:</a:t>
            </a:r>
            <a:r>
              <a:rPr kumimoji="0" lang="en-US" altLang="en-US" sz="1600" b="0" i="0" u="none" strike="noStrike" cap="none" normalizeH="0" baseline="0" dirty="0" smtClean="0">
                <a:ln>
                  <a:noFill/>
                </a:ln>
                <a:solidFill>
                  <a:schemeClr val="tx1"/>
                </a:solidFill>
                <a:effectLst/>
                <a:latin typeface="Arial" panose="020B0604020202020204" pitchFamily="34" charset="0"/>
              </a:rPr>
              <a:t> </a:t>
            </a:r>
            <a:r>
              <a:rPr kumimoji="0" lang="en-US" altLang="en-US" sz="1600" b="0" i="0" u="none" strike="noStrike" cap="none" normalizeH="0" baseline="0" dirty="0" err="1" smtClean="0">
                <a:ln>
                  <a:noFill/>
                </a:ln>
                <a:solidFill>
                  <a:schemeClr val="tx1"/>
                </a:solidFill>
                <a:effectLst/>
                <a:latin typeface="Arial" panose="020B0604020202020204" pitchFamily="34" charset="0"/>
              </a:rPr>
              <a:t>Streamlit</a:t>
            </a:r>
            <a:r>
              <a:rPr kumimoji="0" lang="en-US" altLang="en-US" sz="1600" b="0" i="0" u="none" strike="noStrike" cap="none" normalizeH="0" baseline="0" dirty="0" smtClean="0">
                <a:ln>
                  <a:noFill/>
                </a:ln>
                <a:solidFill>
                  <a:schemeClr val="tx1"/>
                </a:solidFill>
                <a:effectLst/>
                <a:latin typeface="Arial" panose="020B0604020202020204" pitchFamily="34" charset="0"/>
              </a:rPr>
              <a:t> (for building the interactive web app)</a:t>
            </a:r>
          </a:p>
          <a:p>
            <a:pPr marL="0" marR="0" lvl="0" indent="0" defTabSz="914400" rtl="0" eaLnBrk="0" fontAlgn="base" latinLnBrk="0" hangingPunct="0">
              <a:lnSpc>
                <a:spcPct val="150000"/>
              </a:lnSpc>
              <a:spcBef>
                <a:spcPct val="0"/>
              </a:spcBef>
              <a:spcAft>
                <a:spcPct val="0"/>
              </a:spcAft>
              <a:buClrTx/>
              <a:buSzTx/>
              <a:buFontTx/>
              <a:buChar char="•"/>
              <a:tabLst/>
            </a:pPr>
            <a:r>
              <a:rPr kumimoji="0" lang="en-US" altLang="en-US" sz="1600" b="1" i="0" u="none" strike="noStrike" cap="none" normalizeH="0" baseline="0" dirty="0" smtClean="0">
                <a:ln>
                  <a:noFill/>
                </a:ln>
                <a:solidFill>
                  <a:schemeClr val="tx1"/>
                </a:solidFill>
                <a:effectLst/>
                <a:latin typeface="Arial" panose="020B0604020202020204" pitchFamily="34" charset="0"/>
              </a:rPr>
              <a:t>Model Storage &amp; Handling:</a:t>
            </a:r>
            <a:r>
              <a:rPr kumimoji="0" lang="en-US" altLang="en-US" sz="1600" b="0" i="0" u="none" strike="noStrike" cap="none" normalizeH="0" baseline="0" dirty="0" smtClean="0">
                <a:ln>
                  <a:noFill/>
                </a:ln>
                <a:solidFill>
                  <a:schemeClr val="tx1"/>
                </a:solidFill>
                <a:effectLst/>
                <a:latin typeface="Arial" panose="020B0604020202020204" pitchFamily="34" charset="0"/>
              </a:rPr>
              <a:t> </a:t>
            </a:r>
            <a:r>
              <a:rPr kumimoji="0" lang="en-US" altLang="en-US" sz="1600" b="0" i="0" u="none" strike="noStrike" cap="none" normalizeH="0" baseline="0" dirty="0" err="1" smtClean="0">
                <a:ln>
                  <a:noFill/>
                </a:ln>
                <a:solidFill>
                  <a:schemeClr val="tx1"/>
                </a:solidFill>
                <a:effectLst/>
                <a:latin typeface="Arial" panose="020B0604020202020204" pitchFamily="34" charset="0"/>
              </a:rPr>
              <a:t>Joblib</a:t>
            </a:r>
            <a:r>
              <a:rPr kumimoji="0" lang="en-US" altLang="en-US" sz="1600" b="0" i="0" u="none" strike="noStrike" cap="none" normalizeH="0" baseline="0" dirty="0" smtClean="0">
                <a:ln>
                  <a:noFill/>
                </a:ln>
                <a:solidFill>
                  <a:schemeClr val="tx1"/>
                </a:solidFill>
                <a:effectLst/>
                <a:latin typeface="Arial" panose="020B0604020202020204" pitchFamily="34" charset="0"/>
              </a:rPr>
              <a:t> for saving/loading ML models</a:t>
            </a:r>
          </a:p>
          <a:p>
            <a:pPr lvl="0" eaLnBrk="0" fontAlgn="base" hangingPunct="0">
              <a:lnSpc>
                <a:spcPct val="150000"/>
              </a:lnSpc>
              <a:spcBef>
                <a:spcPct val="0"/>
              </a:spcBef>
              <a:spcAft>
                <a:spcPct val="0"/>
              </a:spcAft>
              <a:buClrTx/>
              <a:buFontTx/>
              <a:buChar char="•"/>
            </a:pPr>
            <a:r>
              <a:rPr lang="en-US" altLang="en-US" sz="1600" dirty="0">
                <a:solidFill>
                  <a:schemeClr val="tx1"/>
                </a:solidFill>
                <a:latin typeface="Arial" panose="020B0604020202020204" pitchFamily="34" charset="0"/>
              </a:rPr>
              <a:t> </a:t>
            </a:r>
            <a:r>
              <a:rPr lang="en-US" altLang="en-US" sz="1600" b="1" dirty="0" smtClean="0">
                <a:solidFill>
                  <a:schemeClr val="tx1"/>
                </a:solidFill>
                <a:latin typeface="Arial" panose="020B0604020202020204" pitchFamily="34" charset="0"/>
              </a:rPr>
              <a:t>Version Control: </a:t>
            </a:r>
            <a:r>
              <a:rPr lang="en-US" altLang="en-US" sz="1600" dirty="0" err="1" smtClean="0">
                <a:solidFill>
                  <a:schemeClr val="tx1"/>
                </a:solidFill>
                <a:latin typeface="Arial" panose="020B0604020202020204" pitchFamily="34" charset="0"/>
              </a:rPr>
              <a:t>Git</a:t>
            </a:r>
            <a:r>
              <a:rPr lang="en-US" altLang="en-US" sz="1600" dirty="0" smtClean="0">
                <a:solidFill>
                  <a:schemeClr val="tx1"/>
                </a:solidFill>
                <a:latin typeface="Arial" panose="020B0604020202020204" pitchFamily="34" charset="0"/>
              </a:rPr>
              <a:t> and </a:t>
            </a:r>
            <a:r>
              <a:rPr lang="en-US" altLang="en-US" sz="1600" dirty="0" err="1" smtClean="0">
                <a:solidFill>
                  <a:schemeClr val="tx1"/>
                </a:solidFill>
                <a:latin typeface="Arial" panose="020B0604020202020204" pitchFamily="34" charset="0"/>
              </a:rPr>
              <a:t>Github</a:t>
            </a:r>
            <a:r>
              <a:rPr lang="en-US" altLang="en-US" sz="1600" dirty="0" smtClean="0">
                <a:solidFill>
                  <a:schemeClr val="tx1"/>
                </a:solidFill>
                <a:latin typeface="Arial" panose="020B0604020202020204" pitchFamily="34" charset="0"/>
              </a:rPr>
              <a:t> (</a:t>
            </a:r>
            <a:r>
              <a:rPr lang="en-US" altLang="en-US" sz="1600" dirty="0" err="1" smtClean="0">
                <a:solidFill>
                  <a:schemeClr val="tx1"/>
                </a:solidFill>
                <a:latin typeface="Arial" panose="020B0604020202020204" pitchFamily="34" charset="0"/>
              </a:rPr>
              <a:t>Github</a:t>
            </a:r>
            <a:r>
              <a:rPr lang="en-US" altLang="en-US" sz="1600" dirty="0">
                <a:solidFill>
                  <a:schemeClr val="tx1"/>
                </a:solidFill>
                <a:latin typeface="Arial" panose="020B0604020202020204" pitchFamily="34" charset="0"/>
              </a:rPr>
              <a:t> Repo </a:t>
            </a:r>
            <a:r>
              <a:rPr lang="en-US" altLang="en-US" sz="1600" dirty="0">
                <a:solidFill>
                  <a:schemeClr val="tx1"/>
                </a:solidFill>
                <a:latin typeface="Arial" panose="020B0604020202020204" pitchFamily="34" charset="0"/>
                <a:hlinkClick r:id="rId2"/>
              </a:rPr>
              <a:t>https://github.com/Mudduluru-Monisha/Smart-Energy-Consumption-Forecasting</a:t>
            </a:r>
            <a:r>
              <a:rPr lang="en-US" altLang="en-US" sz="1600" dirty="0" smtClean="0">
                <a:solidFill>
                  <a:schemeClr val="tx1"/>
                </a:solidFill>
                <a:latin typeface="Arial" panose="020B0604020202020204" pitchFamily="34" charset="0"/>
              </a:rPr>
              <a:t>) to manage code and collaborate</a:t>
            </a:r>
            <a:endParaRPr kumimoji="0" lang="en-US" altLang="en-US" sz="1600" i="0" u="none" strike="noStrike" cap="none" normalizeH="0" baseline="0" dirty="0" smtClean="0">
              <a:ln>
                <a:noFill/>
              </a:ln>
              <a:solidFill>
                <a:schemeClr val="tx1"/>
              </a:solidFill>
              <a:effectLst/>
              <a:latin typeface="Arial" panose="020B0604020202020204" pitchFamily="34" charset="0"/>
            </a:endParaRPr>
          </a:p>
          <a:p>
            <a:pPr marL="0" marR="0" lvl="0" indent="0" defTabSz="914400" rtl="0" eaLnBrk="0" fontAlgn="base" latinLnBrk="0" hangingPunct="0">
              <a:lnSpc>
                <a:spcPct val="150000"/>
              </a:lnSpc>
              <a:spcBef>
                <a:spcPct val="0"/>
              </a:spcBef>
              <a:spcAft>
                <a:spcPct val="0"/>
              </a:spcAft>
              <a:buClrTx/>
              <a:buSzTx/>
              <a:buFontTx/>
              <a:buChar char="•"/>
              <a:tabLst/>
            </a:pPr>
            <a:r>
              <a:rPr kumimoji="0" lang="en-US" altLang="en-US" sz="1600" b="1" i="0" u="none" strike="noStrike" cap="none" normalizeH="0" baseline="0" dirty="0" smtClean="0">
                <a:ln>
                  <a:noFill/>
                </a:ln>
                <a:solidFill>
                  <a:schemeClr val="tx1"/>
                </a:solidFill>
                <a:effectLst/>
                <a:latin typeface="Arial" panose="020B0604020202020204" pitchFamily="34" charset="0"/>
              </a:rPr>
              <a:t>Environment:</a:t>
            </a:r>
            <a:r>
              <a:rPr kumimoji="0" lang="en-US" altLang="en-US" sz="1600" b="0" i="0" u="none" strike="noStrike" cap="none" normalizeH="0" baseline="0" dirty="0" smtClean="0">
                <a:ln>
                  <a:noFill/>
                </a:ln>
                <a:solidFill>
                  <a:schemeClr val="tx1"/>
                </a:solidFill>
                <a:effectLst/>
                <a:latin typeface="Arial" panose="020B0604020202020204" pitchFamily="34" charset="0"/>
              </a:rPr>
              <a:t> </a:t>
            </a:r>
            <a:r>
              <a:rPr kumimoji="0" lang="en-US" altLang="en-US" sz="1600" b="0" i="0" u="none" strike="noStrike" cap="none" normalizeH="0" baseline="0" dirty="0" err="1" smtClean="0">
                <a:ln>
                  <a:noFill/>
                </a:ln>
                <a:solidFill>
                  <a:schemeClr val="tx1"/>
                </a:solidFill>
                <a:effectLst/>
                <a:latin typeface="Arial" panose="020B0604020202020204" pitchFamily="34" charset="0"/>
              </a:rPr>
              <a:t>Jupyter</a:t>
            </a:r>
            <a:r>
              <a:rPr kumimoji="0" lang="en-US" altLang="en-US" sz="1600" b="0" i="0" u="none" strike="noStrike" cap="none" normalizeH="0" baseline="0" dirty="0" smtClean="0">
                <a:ln>
                  <a:noFill/>
                </a:ln>
                <a:solidFill>
                  <a:schemeClr val="tx1"/>
                </a:solidFill>
                <a:effectLst/>
                <a:latin typeface="Arial" panose="020B0604020202020204" pitchFamily="34" charset="0"/>
              </a:rPr>
              <a:t> Notebook / VS Code</a:t>
            </a:r>
          </a:p>
          <a:p>
            <a:pPr marL="0" marR="0" lvl="0" indent="0" defTabSz="914400" rtl="0" eaLnBrk="0" fontAlgn="base" latinLnBrk="0" hangingPunct="0">
              <a:lnSpc>
                <a:spcPct val="150000"/>
              </a:lnSpc>
              <a:spcBef>
                <a:spcPct val="0"/>
              </a:spcBef>
              <a:spcAft>
                <a:spcPct val="0"/>
              </a:spcAft>
              <a:buClrTx/>
              <a:buSzTx/>
              <a:buFontTx/>
              <a:buChar char="•"/>
              <a:tabLst/>
            </a:pPr>
            <a:r>
              <a:rPr kumimoji="0" lang="en-US" altLang="en-US" sz="1600" b="1" i="0" u="none" strike="noStrike" cap="none" normalizeH="0" baseline="0" dirty="0" smtClean="0">
                <a:ln>
                  <a:noFill/>
                </a:ln>
                <a:solidFill>
                  <a:schemeClr val="tx1"/>
                </a:solidFill>
                <a:effectLst/>
                <a:latin typeface="Arial" panose="020B0604020202020204" pitchFamily="34" charset="0"/>
              </a:rPr>
              <a:t>Hardware:</a:t>
            </a:r>
            <a:r>
              <a:rPr kumimoji="0" lang="en-US" altLang="en-US" sz="1600" b="0" i="0" u="none" strike="noStrike" cap="none" normalizeH="0" baseline="0" dirty="0" smtClean="0">
                <a:ln>
                  <a:noFill/>
                </a:ln>
                <a:solidFill>
                  <a:schemeClr val="tx1"/>
                </a:solidFill>
                <a:effectLst/>
                <a:latin typeface="Arial" panose="020B0604020202020204" pitchFamily="34" charset="0"/>
              </a:rPr>
              <a:t> Local machine for training and testing models</a:t>
            </a:r>
          </a:p>
        </p:txBody>
      </p:sp>
    </p:spTree>
    <p:extLst>
      <p:ext uri="{BB962C8B-B14F-4D97-AF65-F5344CB8AC3E}">
        <p14:creationId xmlns:p14="http://schemas.microsoft.com/office/powerpoint/2010/main" val="564571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68356" y="1014656"/>
            <a:ext cx="6102626" cy="400110"/>
          </a:xfrm>
          <a:prstGeom prst="rect">
            <a:avLst/>
          </a:prstGeom>
          <a:noFill/>
        </p:spPr>
        <p:txBody>
          <a:bodyPr wrap="square">
            <a:spAutoFit/>
          </a:bodyPr>
          <a:lstStyle/>
          <a:p>
            <a:r>
              <a:rPr lang="en-US" sz="2000" b="1" dirty="0">
                <a:solidFill>
                  <a:srgbClr val="213163"/>
                </a:solidFill>
              </a:rPr>
              <a:t>Methodology</a:t>
            </a:r>
            <a:r>
              <a:rPr lang="en-US" sz="1800" b="1" dirty="0">
                <a:solidFill>
                  <a:srgbClr val="213163"/>
                </a:solidFill>
              </a:rPr>
              <a:t> </a:t>
            </a:r>
            <a:endParaRPr lang="en-IN" sz="1800" dirty="0">
              <a:solidFill>
                <a:srgbClr val="213163"/>
              </a:solidFill>
            </a:endParaRPr>
          </a:p>
        </p:txBody>
      </p:sp>
      <p:sp>
        <p:nvSpPr>
          <p:cNvPr id="2" name="TextBox 1"/>
          <p:cNvSpPr txBox="1"/>
          <p:nvPr/>
        </p:nvSpPr>
        <p:spPr>
          <a:xfrm>
            <a:off x="493776" y="1527048"/>
            <a:ext cx="11292840" cy="4524315"/>
          </a:xfrm>
          <a:prstGeom prst="rect">
            <a:avLst/>
          </a:prstGeom>
          <a:noFill/>
        </p:spPr>
        <p:txBody>
          <a:bodyPr wrap="square" rtlCol="0">
            <a:spAutoFit/>
          </a:bodyPr>
          <a:lstStyle/>
          <a:p>
            <a:pPr>
              <a:lnSpc>
                <a:spcPct val="150000"/>
              </a:lnSpc>
            </a:pPr>
            <a:r>
              <a:rPr lang="en-US" sz="1600" b="1" dirty="0"/>
              <a:t>Existing Methodology</a:t>
            </a:r>
          </a:p>
          <a:p>
            <a:pPr marL="457200" indent="-284163">
              <a:lnSpc>
                <a:spcPct val="150000"/>
              </a:lnSpc>
              <a:buFont typeface="Arial" panose="020B0604020202020204" pitchFamily="34" charset="0"/>
              <a:buChar char="•"/>
            </a:pPr>
            <a:r>
              <a:rPr lang="en-US" sz="1600" dirty="0"/>
              <a:t>Electricity usage is typically analyzed monthly using bill readings.</a:t>
            </a:r>
          </a:p>
          <a:p>
            <a:pPr marL="457200" indent="-284163">
              <a:lnSpc>
                <a:spcPct val="150000"/>
              </a:lnSpc>
              <a:buFont typeface="Arial" panose="020B0604020202020204" pitchFamily="34" charset="0"/>
              <a:buChar char="•"/>
            </a:pPr>
            <a:r>
              <a:rPr lang="en-US" sz="1600" dirty="0"/>
              <a:t>No detailed hourly or daily consumption insights.</a:t>
            </a:r>
          </a:p>
          <a:p>
            <a:pPr marL="457200" indent="-284163">
              <a:lnSpc>
                <a:spcPct val="150000"/>
              </a:lnSpc>
              <a:buFont typeface="Arial" panose="020B0604020202020204" pitchFamily="34" charset="0"/>
              <a:buChar char="•"/>
            </a:pPr>
            <a:r>
              <a:rPr lang="en-US" sz="1600" dirty="0"/>
              <a:t>Consumers rarely understand which appliances increase their bill.</a:t>
            </a:r>
          </a:p>
          <a:p>
            <a:pPr marL="457200" indent="-284163">
              <a:lnSpc>
                <a:spcPct val="150000"/>
              </a:lnSpc>
              <a:buFont typeface="Arial" panose="020B0604020202020204" pitchFamily="34" charset="0"/>
              <a:buChar char="•"/>
            </a:pPr>
            <a:r>
              <a:rPr lang="en-US" sz="1600" dirty="0"/>
              <a:t>No system to forecast future usage — only past bills are checked.</a:t>
            </a:r>
          </a:p>
          <a:p>
            <a:pPr marL="457200" indent="-284163">
              <a:lnSpc>
                <a:spcPct val="150000"/>
              </a:lnSpc>
              <a:buFont typeface="Arial" panose="020B0604020202020204" pitchFamily="34" charset="0"/>
              <a:buChar char="•"/>
            </a:pPr>
            <a:r>
              <a:rPr lang="en-US" sz="1600" dirty="0"/>
              <a:t>Manual tracking leads to inaccurate or delayed decision-making.</a:t>
            </a:r>
          </a:p>
          <a:p>
            <a:pPr>
              <a:lnSpc>
                <a:spcPct val="150000"/>
              </a:lnSpc>
            </a:pPr>
            <a:r>
              <a:rPr lang="en-US" sz="1600" b="1" dirty="0"/>
              <a:t>Proposed Methodology</a:t>
            </a:r>
          </a:p>
          <a:p>
            <a:pPr marL="457200" indent="-341313">
              <a:lnSpc>
                <a:spcPct val="150000"/>
              </a:lnSpc>
              <a:buFont typeface="Arial" panose="020B0604020202020204" pitchFamily="34" charset="0"/>
              <a:buChar char="•"/>
            </a:pPr>
            <a:r>
              <a:rPr lang="en-US" sz="1600" dirty="0"/>
              <a:t>Use historical energy data (hourly or daily) to train machine learning models.</a:t>
            </a:r>
          </a:p>
          <a:p>
            <a:pPr marL="457200" indent="-341313">
              <a:lnSpc>
                <a:spcPct val="150000"/>
              </a:lnSpc>
              <a:buFont typeface="Arial" panose="020B0604020202020204" pitchFamily="34" charset="0"/>
              <a:buChar char="•"/>
            </a:pPr>
            <a:r>
              <a:rPr lang="en-US" sz="1600" dirty="0"/>
              <a:t>Perform preprocessing: handling </a:t>
            </a:r>
            <a:r>
              <a:rPr lang="en-US" sz="1600" dirty="0" err="1"/>
              <a:t>datetime</a:t>
            </a:r>
            <a:r>
              <a:rPr lang="en-US" sz="1600" dirty="0"/>
              <a:t>, creating rolling averages, and generating lag features.</a:t>
            </a:r>
          </a:p>
          <a:p>
            <a:pPr marL="457200" indent="-341313">
              <a:lnSpc>
                <a:spcPct val="150000"/>
              </a:lnSpc>
              <a:buFont typeface="Arial" panose="020B0604020202020204" pitchFamily="34" charset="0"/>
              <a:buChar char="•"/>
            </a:pPr>
            <a:r>
              <a:rPr lang="en-US" sz="1600" dirty="0"/>
              <a:t>Train RF, </a:t>
            </a:r>
            <a:r>
              <a:rPr lang="en-US" sz="1600" dirty="0" err="1"/>
              <a:t>XGBoost</a:t>
            </a:r>
            <a:r>
              <a:rPr lang="en-US" sz="1600" dirty="0"/>
              <a:t>, and LSTM models to understand patterns and predict future usage.</a:t>
            </a:r>
          </a:p>
          <a:p>
            <a:pPr marL="457200" indent="-341313">
              <a:lnSpc>
                <a:spcPct val="150000"/>
              </a:lnSpc>
              <a:buFont typeface="Arial" panose="020B0604020202020204" pitchFamily="34" charset="0"/>
              <a:buChar char="•"/>
            </a:pPr>
            <a:r>
              <a:rPr lang="en-US" sz="1600" dirty="0"/>
              <a:t>Provide real-time prediction through a </a:t>
            </a:r>
            <a:r>
              <a:rPr lang="en-US" sz="1600" dirty="0" err="1"/>
              <a:t>Streamlit</a:t>
            </a:r>
            <a:r>
              <a:rPr lang="en-US" sz="1600" dirty="0"/>
              <a:t> app.</a:t>
            </a:r>
          </a:p>
          <a:p>
            <a:pPr marL="457200" indent="-341313">
              <a:lnSpc>
                <a:spcPct val="150000"/>
              </a:lnSpc>
              <a:buFont typeface="Arial" panose="020B0604020202020204" pitchFamily="34" charset="0"/>
              <a:buChar char="•"/>
            </a:pPr>
            <a:r>
              <a:rPr lang="en-US" sz="1600" dirty="0"/>
              <a:t>Help users plan consumption better and avoid unnecessary spikes</a:t>
            </a:r>
            <a:r>
              <a:rPr lang="en-US" sz="1600" dirty="0" smtClean="0"/>
              <a:t>.</a:t>
            </a:r>
            <a:endParaRPr lang="en-US" sz="1600" dirty="0"/>
          </a:p>
        </p:txBody>
      </p:sp>
    </p:spTree>
    <p:extLst>
      <p:ext uri="{BB962C8B-B14F-4D97-AF65-F5344CB8AC3E}">
        <p14:creationId xmlns:p14="http://schemas.microsoft.com/office/powerpoint/2010/main" val="2706790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419696" y="1319588"/>
            <a:ext cx="6102626" cy="400110"/>
          </a:xfrm>
          <a:prstGeom prst="rect">
            <a:avLst/>
          </a:prstGeom>
          <a:noFill/>
        </p:spPr>
        <p:txBody>
          <a:bodyPr wrap="square">
            <a:spAutoFit/>
          </a:bodyPr>
          <a:lstStyle/>
          <a:p>
            <a:r>
              <a:rPr lang="en-US" sz="2000" b="1" dirty="0">
                <a:solidFill>
                  <a:srgbClr val="213163"/>
                </a:solidFill>
              </a:rPr>
              <a:t>Problem Statement:  </a:t>
            </a:r>
            <a:endParaRPr lang="en-IN" sz="2000" b="1" dirty="0">
              <a:solidFill>
                <a:srgbClr val="213163"/>
              </a:solidFill>
            </a:endParaRPr>
          </a:p>
        </p:txBody>
      </p:sp>
      <p:sp>
        <p:nvSpPr>
          <p:cNvPr id="2" name="TextBox 1"/>
          <p:cNvSpPr txBox="1"/>
          <p:nvPr/>
        </p:nvSpPr>
        <p:spPr>
          <a:xfrm>
            <a:off x="676656" y="1956816"/>
            <a:ext cx="10113264" cy="1524007"/>
          </a:xfrm>
          <a:prstGeom prst="rect">
            <a:avLst/>
          </a:prstGeom>
          <a:noFill/>
        </p:spPr>
        <p:txBody>
          <a:bodyPr wrap="square" rtlCol="0">
            <a:spAutoFit/>
          </a:bodyPr>
          <a:lstStyle/>
          <a:p>
            <a:pPr algn="just">
              <a:lnSpc>
                <a:spcPct val="150000"/>
              </a:lnSpc>
            </a:pPr>
            <a:r>
              <a:rPr lang="en-US" sz="1600" dirty="0"/>
              <a:t>“Electricity consumers do not have a clear, real-time understanding of their power usage, and most households only receive monthly readings without insights into when and why consumption increases. This makes it difficult to control bills, detect unusual usage patterns, or plan consumption. The challenge is to build a system that can analyze past consumption data and accurately forecast future usage.”</a:t>
            </a:r>
          </a:p>
        </p:txBody>
      </p:sp>
    </p:spTree>
    <p:extLst>
      <p:ext uri="{BB962C8B-B14F-4D97-AF65-F5344CB8AC3E}">
        <p14:creationId xmlns:p14="http://schemas.microsoft.com/office/powerpoint/2010/main" val="319659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Solution:  </a:t>
            </a:r>
            <a:endParaRPr lang="en-IN" sz="2000" b="1" dirty="0">
              <a:solidFill>
                <a:srgbClr val="213163"/>
              </a:solidFill>
            </a:endParaRPr>
          </a:p>
        </p:txBody>
      </p:sp>
      <p:sp>
        <p:nvSpPr>
          <p:cNvPr id="5" name="Rectangle 4"/>
          <p:cNvSpPr/>
          <p:nvPr/>
        </p:nvSpPr>
        <p:spPr>
          <a:xfrm>
            <a:off x="493776" y="1749606"/>
            <a:ext cx="10744199" cy="3046988"/>
          </a:xfrm>
          <a:prstGeom prst="rect">
            <a:avLst/>
          </a:prstGeom>
        </p:spPr>
        <p:txBody>
          <a:bodyPr wrap="square">
            <a:spAutoFit/>
          </a:bodyPr>
          <a:lstStyle/>
          <a:p>
            <a:pPr marL="284163" lvl="0" indent="-284163" eaLnBrk="0" fontAlgn="base" hangingPunct="0">
              <a:lnSpc>
                <a:spcPct val="150000"/>
              </a:lnSpc>
              <a:spcBef>
                <a:spcPct val="0"/>
              </a:spcBef>
              <a:spcAft>
                <a:spcPct val="0"/>
              </a:spcAft>
              <a:buClrTx/>
              <a:buFontTx/>
              <a:buChar char="•"/>
            </a:pPr>
            <a:r>
              <a:rPr lang="en-US" altLang="en-US" sz="1600" dirty="0">
                <a:solidFill>
                  <a:schemeClr val="tx1"/>
                </a:solidFill>
                <a:latin typeface="Arial" panose="020B0604020202020204" pitchFamily="34" charset="0"/>
              </a:rPr>
              <a:t>Collect historical electricity consumption data with timestamps.</a:t>
            </a:r>
          </a:p>
          <a:p>
            <a:pPr marL="284163" lvl="0" indent="-284163" eaLnBrk="0" fontAlgn="base" hangingPunct="0">
              <a:lnSpc>
                <a:spcPct val="150000"/>
              </a:lnSpc>
              <a:spcBef>
                <a:spcPct val="0"/>
              </a:spcBef>
              <a:spcAft>
                <a:spcPct val="0"/>
              </a:spcAft>
              <a:buClrTx/>
              <a:buFontTx/>
              <a:buChar char="•"/>
            </a:pPr>
            <a:r>
              <a:rPr lang="en-US" altLang="en-US" sz="1600" dirty="0">
                <a:solidFill>
                  <a:schemeClr val="tx1"/>
                </a:solidFill>
                <a:latin typeface="Arial" panose="020B0604020202020204" pitchFamily="34" charset="0"/>
              </a:rPr>
              <a:t>Preprocess the dataset: convert </a:t>
            </a:r>
            <a:r>
              <a:rPr lang="en-US" altLang="en-US" sz="1600" dirty="0" err="1">
                <a:solidFill>
                  <a:schemeClr val="tx1"/>
                </a:solidFill>
                <a:latin typeface="Arial" panose="020B0604020202020204" pitchFamily="34" charset="0"/>
              </a:rPr>
              <a:t>datetime</a:t>
            </a:r>
            <a:r>
              <a:rPr lang="en-US" altLang="en-US" sz="1600" dirty="0">
                <a:solidFill>
                  <a:schemeClr val="tx1"/>
                </a:solidFill>
                <a:latin typeface="Arial" panose="020B0604020202020204" pitchFamily="34" charset="0"/>
              </a:rPr>
              <a:t>, generate features, handle missing values.</a:t>
            </a:r>
          </a:p>
          <a:p>
            <a:pPr marL="284163" lvl="0" indent="-284163" eaLnBrk="0" fontAlgn="base" hangingPunct="0">
              <a:lnSpc>
                <a:spcPct val="150000"/>
              </a:lnSpc>
              <a:spcBef>
                <a:spcPct val="0"/>
              </a:spcBef>
              <a:spcAft>
                <a:spcPct val="0"/>
              </a:spcAft>
              <a:buClrTx/>
              <a:buFontTx/>
              <a:buChar char="•"/>
            </a:pPr>
            <a:r>
              <a:rPr lang="en-US" altLang="en-US" sz="1600" dirty="0">
                <a:solidFill>
                  <a:schemeClr val="tx1"/>
                </a:solidFill>
                <a:latin typeface="Arial" panose="020B0604020202020204" pitchFamily="34" charset="0"/>
              </a:rPr>
              <a:t>Train three ML models — Random Forest, </a:t>
            </a:r>
            <a:r>
              <a:rPr lang="en-US" altLang="en-US" sz="1600" dirty="0" err="1">
                <a:solidFill>
                  <a:schemeClr val="tx1"/>
                </a:solidFill>
                <a:latin typeface="Arial" panose="020B0604020202020204" pitchFamily="34" charset="0"/>
              </a:rPr>
              <a:t>XGBoost</a:t>
            </a:r>
            <a:r>
              <a:rPr lang="en-US" altLang="en-US" sz="1600" dirty="0">
                <a:solidFill>
                  <a:schemeClr val="tx1"/>
                </a:solidFill>
                <a:latin typeface="Arial" panose="020B0604020202020204" pitchFamily="34" charset="0"/>
              </a:rPr>
              <a:t>, and LSTM — to compare prediction accuracy.</a:t>
            </a:r>
          </a:p>
          <a:p>
            <a:pPr marL="284163" lvl="0" indent="-284163" eaLnBrk="0" fontAlgn="base" hangingPunct="0">
              <a:lnSpc>
                <a:spcPct val="150000"/>
              </a:lnSpc>
              <a:spcBef>
                <a:spcPct val="0"/>
              </a:spcBef>
              <a:spcAft>
                <a:spcPct val="0"/>
              </a:spcAft>
              <a:buClrTx/>
              <a:buFontTx/>
              <a:buChar char="•"/>
            </a:pPr>
            <a:r>
              <a:rPr lang="en-US" altLang="en-US" sz="1600" dirty="0">
                <a:solidFill>
                  <a:schemeClr val="tx1"/>
                </a:solidFill>
                <a:latin typeface="Arial" panose="020B0604020202020204" pitchFamily="34" charset="0"/>
              </a:rPr>
              <a:t>Build a user-friendly </a:t>
            </a:r>
            <a:r>
              <a:rPr lang="en-US" altLang="en-US" sz="1600" dirty="0" err="1">
                <a:solidFill>
                  <a:schemeClr val="tx1"/>
                </a:solidFill>
                <a:latin typeface="Arial" panose="020B0604020202020204" pitchFamily="34" charset="0"/>
              </a:rPr>
              <a:t>Streamlit</a:t>
            </a:r>
            <a:r>
              <a:rPr lang="en-US" altLang="en-US" sz="1600" dirty="0">
                <a:solidFill>
                  <a:schemeClr val="tx1"/>
                </a:solidFill>
                <a:latin typeface="Arial" panose="020B0604020202020204" pitchFamily="34" charset="0"/>
              </a:rPr>
              <a:t> app where users upload their CSV and get:</a:t>
            </a:r>
          </a:p>
          <a:p>
            <a:pPr marL="969963" lvl="0" indent="-284163" eaLnBrk="0" fontAlgn="base" hangingPunct="0">
              <a:lnSpc>
                <a:spcPct val="150000"/>
              </a:lnSpc>
              <a:spcBef>
                <a:spcPct val="0"/>
              </a:spcBef>
              <a:spcAft>
                <a:spcPct val="0"/>
              </a:spcAft>
              <a:buClrTx/>
              <a:buFontTx/>
              <a:buChar char="•"/>
            </a:pPr>
            <a:r>
              <a:rPr lang="en-US" altLang="en-US" sz="1600" dirty="0">
                <a:solidFill>
                  <a:schemeClr val="tx1"/>
                </a:solidFill>
                <a:latin typeface="Arial" panose="020B0604020202020204" pitchFamily="34" charset="0"/>
              </a:rPr>
              <a:t>Future electricity usage predictions</a:t>
            </a:r>
          </a:p>
          <a:p>
            <a:pPr marL="969963" lvl="0" indent="-284163" eaLnBrk="0" fontAlgn="base" hangingPunct="0">
              <a:lnSpc>
                <a:spcPct val="150000"/>
              </a:lnSpc>
              <a:spcBef>
                <a:spcPct val="0"/>
              </a:spcBef>
              <a:spcAft>
                <a:spcPct val="0"/>
              </a:spcAft>
              <a:buClrTx/>
              <a:buFontTx/>
              <a:buChar char="•"/>
            </a:pPr>
            <a:r>
              <a:rPr lang="en-US" altLang="en-US" sz="1600" dirty="0">
                <a:solidFill>
                  <a:schemeClr val="tx1"/>
                </a:solidFill>
                <a:latin typeface="Arial" panose="020B0604020202020204" pitchFamily="34" charset="0"/>
              </a:rPr>
              <a:t>Model comparison graphs</a:t>
            </a:r>
          </a:p>
          <a:p>
            <a:pPr marL="969963" lvl="0" indent="-284163" eaLnBrk="0" fontAlgn="base" hangingPunct="0">
              <a:lnSpc>
                <a:spcPct val="150000"/>
              </a:lnSpc>
              <a:spcBef>
                <a:spcPct val="0"/>
              </a:spcBef>
              <a:spcAft>
                <a:spcPct val="0"/>
              </a:spcAft>
              <a:buClrTx/>
              <a:buFontTx/>
              <a:buChar char="•"/>
            </a:pPr>
            <a:r>
              <a:rPr lang="en-US" altLang="en-US" sz="1600" dirty="0">
                <a:solidFill>
                  <a:schemeClr val="tx1"/>
                </a:solidFill>
                <a:latin typeface="Arial" panose="020B0604020202020204" pitchFamily="34" charset="0"/>
              </a:rPr>
              <a:t>Insights on high, medium, and low consumption</a:t>
            </a:r>
          </a:p>
          <a:p>
            <a:pPr marL="284163" lvl="0" indent="-284163" eaLnBrk="0" fontAlgn="base" hangingPunct="0">
              <a:lnSpc>
                <a:spcPct val="150000"/>
              </a:lnSpc>
              <a:spcBef>
                <a:spcPct val="0"/>
              </a:spcBef>
              <a:spcAft>
                <a:spcPct val="0"/>
              </a:spcAft>
              <a:buClrTx/>
              <a:buFontTx/>
              <a:buChar char="•"/>
            </a:pPr>
            <a:r>
              <a:rPr lang="en-US" altLang="en-US" sz="1600" dirty="0">
                <a:solidFill>
                  <a:schemeClr val="tx1"/>
                </a:solidFill>
                <a:latin typeface="Arial" panose="020B0604020202020204" pitchFamily="34" charset="0"/>
              </a:rPr>
              <a:t>Allow users to choose “next hours” or “next day” predictions (future enhancement).</a:t>
            </a:r>
          </a:p>
        </p:txBody>
      </p:sp>
    </p:spTree>
    <p:extLst>
      <p:ext uri="{BB962C8B-B14F-4D97-AF65-F5344CB8AC3E}">
        <p14:creationId xmlns:p14="http://schemas.microsoft.com/office/powerpoint/2010/main" val="3002968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Screenshot of Output:  </a:t>
            </a:r>
            <a:endParaRPr lang="en-IN" sz="2000" b="1" dirty="0">
              <a:solidFill>
                <a:srgbClr val="213163"/>
              </a:solidFill>
            </a:endParaRPr>
          </a:p>
        </p:txBody>
      </p:sp>
      <p:pic>
        <p:nvPicPr>
          <p:cNvPr id="2" name="Picture 1"/>
          <p:cNvPicPr>
            <a:picLocks noChangeAspect="1"/>
          </p:cNvPicPr>
          <p:nvPr/>
        </p:nvPicPr>
        <p:blipFill rotWithShape="1">
          <a:blip r:embed="rId2"/>
          <a:srcRect t="16824" b="4236"/>
          <a:stretch/>
        </p:blipFill>
        <p:spPr>
          <a:xfrm>
            <a:off x="2885439" y="4164779"/>
            <a:ext cx="5262880" cy="2561141"/>
          </a:xfrm>
          <a:prstGeom prst="rect">
            <a:avLst/>
          </a:prstGeom>
        </p:spPr>
      </p:pic>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t="17691" b="5639"/>
          <a:stretch/>
        </p:blipFill>
        <p:spPr>
          <a:xfrm>
            <a:off x="5709920" y="1513838"/>
            <a:ext cx="4876799" cy="2581463"/>
          </a:xfrm>
          <a:prstGeom prst="rect">
            <a:avLst/>
          </a:prstGeom>
        </p:spPr>
      </p:pic>
      <p:pic>
        <p:nvPicPr>
          <p:cNvPr id="5" name="Picture 4"/>
          <p:cNvPicPr>
            <a:picLocks noChangeAspect="1"/>
          </p:cNvPicPr>
          <p:nvPr/>
        </p:nvPicPr>
        <p:blipFill rotWithShape="1">
          <a:blip r:embed="rId4">
            <a:extLst>
              <a:ext uri="{28A0092B-C50C-407E-A947-70E740481C1C}">
                <a14:useLocalDpi xmlns:a14="http://schemas.microsoft.com/office/drawing/2010/main" val="0"/>
              </a:ext>
            </a:extLst>
          </a:blip>
          <a:srcRect t="12471" b="3599"/>
          <a:stretch/>
        </p:blipFill>
        <p:spPr>
          <a:xfrm>
            <a:off x="467360" y="1524000"/>
            <a:ext cx="4531359" cy="2561141"/>
          </a:xfrm>
          <a:prstGeom prst="rect">
            <a:avLst/>
          </a:prstGeom>
        </p:spPr>
      </p:pic>
    </p:spTree>
    <p:extLst>
      <p:ext uri="{BB962C8B-B14F-4D97-AF65-F5344CB8AC3E}">
        <p14:creationId xmlns:p14="http://schemas.microsoft.com/office/powerpoint/2010/main" val="16359494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707887" y="1323431"/>
            <a:ext cx="6102626" cy="400110"/>
          </a:xfrm>
          <a:prstGeom prst="rect">
            <a:avLst/>
          </a:prstGeom>
          <a:noFill/>
        </p:spPr>
        <p:txBody>
          <a:bodyPr wrap="square">
            <a:spAutoFit/>
          </a:bodyPr>
          <a:lstStyle/>
          <a:p>
            <a:r>
              <a:rPr lang="en-US" sz="2000" b="1" dirty="0">
                <a:solidFill>
                  <a:srgbClr val="213163"/>
                </a:solidFill>
              </a:rPr>
              <a:t>Conclusion:</a:t>
            </a:r>
            <a:r>
              <a:rPr lang="en-US" sz="1800" b="1" dirty="0">
                <a:solidFill>
                  <a:srgbClr val="213163"/>
                </a:solidFill>
              </a:rPr>
              <a:t>  </a:t>
            </a:r>
            <a:endParaRPr lang="en-IN" sz="1800" dirty="0">
              <a:solidFill>
                <a:srgbClr val="213163"/>
              </a:solidFill>
            </a:endParaRPr>
          </a:p>
        </p:txBody>
      </p:sp>
      <p:sp>
        <p:nvSpPr>
          <p:cNvPr id="5" name="Rectangle 4"/>
          <p:cNvSpPr/>
          <p:nvPr/>
        </p:nvSpPr>
        <p:spPr>
          <a:xfrm>
            <a:off x="934720" y="2038777"/>
            <a:ext cx="10068560" cy="1938992"/>
          </a:xfrm>
          <a:prstGeom prst="rect">
            <a:avLst/>
          </a:prstGeom>
        </p:spPr>
        <p:txBody>
          <a:bodyPr wrap="square">
            <a:spAutoFit/>
          </a:bodyPr>
          <a:lstStyle/>
          <a:p>
            <a:pPr lvl="0" algn="just" eaLnBrk="0" fontAlgn="base" hangingPunct="0">
              <a:lnSpc>
                <a:spcPct val="150000"/>
              </a:lnSpc>
              <a:spcBef>
                <a:spcPct val="0"/>
              </a:spcBef>
              <a:spcAft>
                <a:spcPct val="0"/>
              </a:spcAft>
              <a:buClrTx/>
            </a:pPr>
            <a:r>
              <a:rPr lang="en-US" altLang="en-US" sz="1600" dirty="0">
                <a:solidFill>
                  <a:schemeClr val="tx1"/>
                </a:solidFill>
                <a:latin typeface="Arial" panose="020B0604020202020204" pitchFamily="34" charset="0"/>
              </a:rPr>
              <a:t>The project successfully demonstrates how machine learning can forecast electricity </a:t>
            </a:r>
            <a:r>
              <a:rPr lang="en-US" altLang="en-US" sz="1600" dirty="0" smtClean="0">
                <a:solidFill>
                  <a:schemeClr val="tx1"/>
                </a:solidFill>
                <a:latin typeface="Arial" panose="020B0604020202020204" pitchFamily="34" charset="0"/>
              </a:rPr>
              <a:t>consumption. Models </a:t>
            </a:r>
            <a:r>
              <a:rPr lang="en-US" altLang="en-US" sz="1600" dirty="0">
                <a:solidFill>
                  <a:schemeClr val="tx1"/>
                </a:solidFill>
                <a:latin typeface="Arial" panose="020B0604020202020204" pitchFamily="34" charset="0"/>
              </a:rPr>
              <a:t>like RF, </a:t>
            </a:r>
            <a:r>
              <a:rPr lang="en-US" altLang="en-US" sz="1600" dirty="0" err="1">
                <a:solidFill>
                  <a:schemeClr val="tx1"/>
                </a:solidFill>
                <a:latin typeface="Arial" panose="020B0604020202020204" pitchFamily="34" charset="0"/>
              </a:rPr>
              <a:t>XGBoost</a:t>
            </a:r>
            <a:r>
              <a:rPr lang="en-US" altLang="en-US" sz="1600" dirty="0">
                <a:solidFill>
                  <a:schemeClr val="tx1"/>
                </a:solidFill>
                <a:latin typeface="Arial" panose="020B0604020202020204" pitchFamily="34" charset="0"/>
              </a:rPr>
              <a:t>, and LSTM provide accurate predictions based on historical </a:t>
            </a:r>
            <a:r>
              <a:rPr lang="en-US" altLang="en-US" sz="1600" dirty="0" smtClean="0">
                <a:solidFill>
                  <a:schemeClr val="tx1"/>
                </a:solidFill>
                <a:latin typeface="Arial" panose="020B0604020202020204" pitchFamily="34" charset="0"/>
              </a:rPr>
              <a:t>data. The </a:t>
            </a:r>
            <a:r>
              <a:rPr lang="en-US" altLang="en-US" sz="1600" dirty="0" err="1">
                <a:solidFill>
                  <a:schemeClr val="tx1"/>
                </a:solidFill>
                <a:latin typeface="Arial" panose="020B0604020202020204" pitchFamily="34" charset="0"/>
              </a:rPr>
              <a:t>Streamlit</a:t>
            </a:r>
            <a:r>
              <a:rPr lang="en-US" altLang="en-US" sz="1600" dirty="0">
                <a:solidFill>
                  <a:schemeClr val="tx1"/>
                </a:solidFill>
                <a:latin typeface="Arial" panose="020B0604020202020204" pitchFamily="34" charset="0"/>
              </a:rPr>
              <a:t> interface makes the system easy for users to interact </a:t>
            </a:r>
            <a:r>
              <a:rPr lang="en-US" altLang="en-US" sz="1600" dirty="0" smtClean="0">
                <a:solidFill>
                  <a:schemeClr val="tx1"/>
                </a:solidFill>
                <a:latin typeface="Arial" panose="020B0604020202020204" pitchFamily="34" charset="0"/>
              </a:rPr>
              <a:t>with. Forecasting </a:t>
            </a:r>
            <a:r>
              <a:rPr lang="en-US" altLang="en-US" sz="1600" dirty="0">
                <a:solidFill>
                  <a:schemeClr val="tx1"/>
                </a:solidFill>
                <a:latin typeface="Arial" panose="020B0604020202020204" pitchFamily="34" charset="0"/>
              </a:rPr>
              <a:t>helps users plan usage, avoid heavy load spikes, and reduce electricity </a:t>
            </a:r>
            <a:r>
              <a:rPr lang="en-US" altLang="en-US" sz="1600" dirty="0" smtClean="0">
                <a:solidFill>
                  <a:schemeClr val="tx1"/>
                </a:solidFill>
                <a:latin typeface="Arial" panose="020B0604020202020204" pitchFamily="34" charset="0"/>
              </a:rPr>
              <a:t>bills. This </a:t>
            </a:r>
            <a:r>
              <a:rPr lang="en-US" altLang="en-US" sz="1600" dirty="0">
                <a:solidFill>
                  <a:schemeClr val="tx1"/>
                </a:solidFill>
                <a:latin typeface="Arial" panose="020B0604020202020204" pitchFamily="34" charset="0"/>
              </a:rPr>
              <a:t>project can be extended with real-time smart meters, appliance-level monitoring, and mobile app integration.</a:t>
            </a:r>
          </a:p>
        </p:txBody>
      </p:sp>
    </p:spTree>
    <p:extLst>
      <p:ext uri="{BB962C8B-B14F-4D97-AF65-F5344CB8AC3E}">
        <p14:creationId xmlns:p14="http://schemas.microsoft.com/office/powerpoint/2010/main" val="151988358"/>
      </p:ext>
    </p:extLst>
  </p:cSld>
  <p:clrMapOvr>
    <a:masterClrMapping/>
  </p:clrMapOvr>
</p:sld>
</file>

<file path=ppt/theme/theme1.xml><?xml version="1.0" encoding="utf-8"?>
<a:theme xmlns:a="http://schemas.openxmlformats.org/drawingml/2006/main" name="Session 01 Design Thinking &amp; Critical Thinking">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ession 01 Design Thinking &amp; Critical Thinking" id="{1DE73F69-F87A-4ED3-81C1-82D2BA622E0C}" vid="{37568650-F724-47C7-905E-9640F8017497}"/>
    </a:ext>
  </a:extLst>
</a:theme>
</file>

<file path=docProps/app.xml><?xml version="1.0" encoding="utf-8"?>
<Properties xmlns="http://schemas.openxmlformats.org/officeDocument/2006/extended-properties" xmlns:vt="http://schemas.openxmlformats.org/officeDocument/2006/docPropsVTypes">
  <Template>Session 01 Design Thinking &amp; Critical Thinking</Template>
  <TotalTime>50</TotalTime>
  <Words>583</Words>
  <Application>Microsoft Office PowerPoint</Application>
  <PresentationFormat>Widescreen</PresentationFormat>
  <Paragraphs>53</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Times New Roman</vt:lpstr>
      <vt:lpstr>Session 01 Design Thinking &amp; Critical Thinking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Mahesh Kurhe</dc:creator>
  <cp:lastModifiedBy>Administrator</cp:lastModifiedBy>
  <cp:revision>9</cp:revision>
  <dcterms:created xsi:type="dcterms:W3CDTF">2024-12-31T09:40:01Z</dcterms:created>
  <dcterms:modified xsi:type="dcterms:W3CDTF">2025-11-17T15:40:57Z</dcterms:modified>
</cp:coreProperties>
</file>